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6" Type="http://schemas.openxmlformats.org/officeDocument/2006/relationships/tableStyles" Target="tableStyles.xml"/><Relationship Id="rId165" Type="http://schemas.openxmlformats.org/officeDocument/2006/relationships/viewProps" Target="viewProps.xml"/><Relationship Id="rId164" Type="http://schemas.openxmlformats.org/officeDocument/2006/relationships/presProps" Target="presProps.xml"/><Relationship Id="rId163" Type="http://schemas.openxmlformats.org/officeDocument/2006/relationships/slide" Target="slides/slide160.xml"/><Relationship Id="rId162" Type="http://schemas.openxmlformats.org/officeDocument/2006/relationships/slide" Target="slides/slide159.xml"/><Relationship Id="rId161" Type="http://schemas.openxmlformats.org/officeDocument/2006/relationships/slide" Target="slides/slide158.xml"/><Relationship Id="rId160" Type="http://schemas.openxmlformats.org/officeDocument/2006/relationships/slide" Target="slides/slide157.xml"/><Relationship Id="rId16" Type="http://schemas.openxmlformats.org/officeDocument/2006/relationships/slide" Target="slides/slide13.xml"/><Relationship Id="rId159" Type="http://schemas.openxmlformats.org/officeDocument/2006/relationships/slide" Target="slides/slide156.xml"/><Relationship Id="rId158" Type="http://schemas.openxmlformats.org/officeDocument/2006/relationships/slide" Target="slides/slide155.xml"/><Relationship Id="rId157" Type="http://schemas.openxmlformats.org/officeDocument/2006/relationships/slide" Target="slides/slide154.xml"/><Relationship Id="rId156" Type="http://schemas.openxmlformats.org/officeDocument/2006/relationships/slide" Target="slides/slide153.xml"/><Relationship Id="rId155" Type="http://schemas.openxmlformats.org/officeDocument/2006/relationships/slide" Target="slides/slide152.xml"/><Relationship Id="rId154" Type="http://schemas.openxmlformats.org/officeDocument/2006/relationships/slide" Target="slides/slide151.xml"/><Relationship Id="rId153" Type="http://schemas.openxmlformats.org/officeDocument/2006/relationships/slide" Target="slides/slide150.xml"/><Relationship Id="rId152" Type="http://schemas.openxmlformats.org/officeDocument/2006/relationships/slide" Target="slides/slide149.xml"/><Relationship Id="rId151" Type="http://schemas.openxmlformats.org/officeDocument/2006/relationships/slide" Target="slides/slide148.xml"/><Relationship Id="rId150" Type="http://schemas.openxmlformats.org/officeDocument/2006/relationships/slide" Target="slides/slide147.xml"/><Relationship Id="rId15" Type="http://schemas.openxmlformats.org/officeDocument/2006/relationships/slide" Target="slides/slide12.xml"/><Relationship Id="rId149" Type="http://schemas.openxmlformats.org/officeDocument/2006/relationships/slide" Target="slides/slide146.xml"/><Relationship Id="rId148" Type="http://schemas.openxmlformats.org/officeDocument/2006/relationships/slide" Target="slides/slide145.xml"/><Relationship Id="rId147" Type="http://schemas.openxmlformats.org/officeDocument/2006/relationships/slide" Target="slides/slide144.xml"/><Relationship Id="rId146" Type="http://schemas.openxmlformats.org/officeDocument/2006/relationships/slide" Target="slides/slide143.xml"/><Relationship Id="rId145" Type="http://schemas.openxmlformats.org/officeDocument/2006/relationships/slide" Target="slides/slide142.xml"/><Relationship Id="rId144" Type="http://schemas.openxmlformats.org/officeDocument/2006/relationships/slide" Target="slides/slide141.xml"/><Relationship Id="rId143" Type="http://schemas.openxmlformats.org/officeDocument/2006/relationships/slide" Target="slides/slide140.xml"/><Relationship Id="rId142" Type="http://schemas.openxmlformats.org/officeDocument/2006/relationships/slide" Target="slides/slide139.xml"/><Relationship Id="rId141" Type="http://schemas.openxmlformats.org/officeDocument/2006/relationships/slide" Target="slides/slide138.xml"/><Relationship Id="rId140" Type="http://schemas.openxmlformats.org/officeDocument/2006/relationships/slide" Target="slides/slide137.xml"/><Relationship Id="rId14" Type="http://schemas.openxmlformats.org/officeDocument/2006/relationships/slide" Target="slides/slide11.xml"/><Relationship Id="rId139" Type="http://schemas.openxmlformats.org/officeDocument/2006/relationships/slide" Target="slides/slide136.xml"/><Relationship Id="rId138" Type="http://schemas.openxmlformats.org/officeDocument/2006/relationships/slide" Target="slides/slide135.xml"/><Relationship Id="rId137" Type="http://schemas.openxmlformats.org/officeDocument/2006/relationships/slide" Target="slides/slide134.xml"/><Relationship Id="rId136" Type="http://schemas.openxmlformats.org/officeDocument/2006/relationships/slide" Target="slides/slide133.xml"/><Relationship Id="rId135" Type="http://schemas.openxmlformats.org/officeDocument/2006/relationships/slide" Target="slides/slide132.xml"/><Relationship Id="rId134" Type="http://schemas.openxmlformats.org/officeDocument/2006/relationships/slide" Target="slides/slide131.xml"/><Relationship Id="rId133" Type="http://schemas.openxmlformats.org/officeDocument/2006/relationships/slide" Target="slides/slide130.xml"/><Relationship Id="rId132" Type="http://schemas.openxmlformats.org/officeDocument/2006/relationships/slide" Target="slides/slide129.xml"/><Relationship Id="rId131" Type="http://schemas.openxmlformats.org/officeDocument/2006/relationships/slide" Target="slides/slide128.xml"/><Relationship Id="rId130" Type="http://schemas.openxmlformats.org/officeDocument/2006/relationships/slide" Target="slides/slide127.xml"/><Relationship Id="rId13" Type="http://schemas.openxmlformats.org/officeDocument/2006/relationships/slide" Target="slides/slide10.xml"/><Relationship Id="rId129" Type="http://schemas.openxmlformats.org/officeDocument/2006/relationships/slide" Target="slides/slide126.xml"/><Relationship Id="rId128" Type="http://schemas.openxmlformats.org/officeDocument/2006/relationships/slide" Target="slides/slide125.xml"/><Relationship Id="rId127" Type="http://schemas.openxmlformats.org/officeDocument/2006/relationships/slide" Target="slides/slide124.xml"/><Relationship Id="rId126" Type="http://schemas.openxmlformats.org/officeDocument/2006/relationships/slide" Target="slides/slide123.xml"/><Relationship Id="rId125" Type="http://schemas.openxmlformats.org/officeDocument/2006/relationships/slide" Target="slides/slide122.xml"/><Relationship Id="rId124" Type="http://schemas.openxmlformats.org/officeDocument/2006/relationships/slide" Target="slides/slide121.xml"/><Relationship Id="rId123" Type="http://schemas.openxmlformats.org/officeDocument/2006/relationships/slide" Target="slides/slide120.xml"/><Relationship Id="rId122" Type="http://schemas.openxmlformats.org/officeDocument/2006/relationships/slide" Target="slides/slide119.xml"/><Relationship Id="rId121" Type="http://schemas.openxmlformats.org/officeDocument/2006/relationships/slide" Target="slides/slide118.xml"/><Relationship Id="rId120" Type="http://schemas.openxmlformats.org/officeDocument/2006/relationships/slide" Target="slides/slide117.xml"/><Relationship Id="rId12" Type="http://schemas.openxmlformats.org/officeDocument/2006/relationships/slide" Target="slides/slide9.xml"/><Relationship Id="rId119" Type="http://schemas.openxmlformats.org/officeDocument/2006/relationships/slide" Target="slides/slide116.xml"/><Relationship Id="rId118" Type="http://schemas.openxmlformats.org/officeDocument/2006/relationships/slide" Target="slides/slide115.xml"/><Relationship Id="rId117" Type="http://schemas.openxmlformats.org/officeDocument/2006/relationships/slide" Target="slides/slide114.xml"/><Relationship Id="rId116" Type="http://schemas.openxmlformats.org/officeDocument/2006/relationships/slide" Target="slides/slide113.xml"/><Relationship Id="rId115" Type="http://schemas.openxmlformats.org/officeDocument/2006/relationships/slide" Target="slides/slide112.xml"/><Relationship Id="rId114" Type="http://schemas.openxmlformats.org/officeDocument/2006/relationships/slide" Target="slides/slide111.xml"/><Relationship Id="rId113" Type="http://schemas.openxmlformats.org/officeDocument/2006/relationships/slide" Target="slides/slide110.xml"/><Relationship Id="rId112" Type="http://schemas.openxmlformats.org/officeDocument/2006/relationships/slide" Target="slides/slide109.xml"/><Relationship Id="rId111" Type="http://schemas.openxmlformats.org/officeDocument/2006/relationships/slide" Target="slides/slide108.xml"/><Relationship Id="rId110" Type="http://schemas.openxmlformats.org/officeDocument/2006/relationships/slide" Target="slides/slide107.xml"/><Relationship Id="rId11" Type="http://schemas.openxmlformats.org/officeDocument/2006/relationships/slide" Target="slides/slide8.xml"/><Relationship Id="rId109" Type="http://schemas.openxmlformats.org/officeDocument/2006/relationships/slide" Target="slides/slide106.xml"/><Relationship Id="rId108" Type="http://schemas.openxmlformats.org/officeDocument/2006/relationships/slide" Target="slides/slide105.xml"/><Relationship Id="rId107" Type="http://schemas.openxmlformats.org/officeDocument/2006/relationships/slide" Target="slides/slide104.xml"/><Relationship Id="rId106" Type="http://schemas.openxmlformats.org/officeDocument/2006/relationships/slide" Target="slides/slide103.xml"/><Relationship Id="rId105" Type="http://schemas.openxmlformats.org/officeDocument/2006/relationships/slide" Target="slides/slide102.xml"/><Relationship Id="rId104" Type="http://schemas.openxmlformats.org/officeDocument/2006/relationships/slide" Target="slides/slide10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5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8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2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3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4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5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6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7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8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9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0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2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3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4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5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6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7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8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9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0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2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3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4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5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6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7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8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9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0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2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3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4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5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6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7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8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9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0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2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3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4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5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6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7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8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9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0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2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3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4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5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6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7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8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9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2.png"/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KDP 5AM CLUB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Ngày Huấn Luyện Chuyên Sâu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Kiếm tiền với Amazon Kindle Direct Publishing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200400" y="3383280"/>
            <a:ext cx="27432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8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viên: Tony Trieu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"Find a starving crowd before you cook"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Lộ trình 3 Ngày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6868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1</a:t>
            </a:r>
            <a:endParaRPr lang="en-US" sz="18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Niche Hunting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 Niche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 ý tưởng win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86868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333756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2</a:t>
            </a:r>
            <a:endParaRPr lang="en-US" sz="1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087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Listing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52044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sách lên KDP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sách live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21792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217920" y="86868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6"/>
          <p:cNvSpPr/>
          <p:nvPr/>
        </p:nvSpPr>
        <p:spPr>
          <a:xfrm>
            <a:off x="621792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3</a:t>
            </a:r>
            <a:endParaRPr lang="en-US" sz="18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087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&amp; Scale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0080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+ Hệ thống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Roadmap 21 ngày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kết: Cuối ngày 3, mỗi học viên có ít nhất 1 sách thật trên Amazon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5AM Club?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sáng = 4h ban ngày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931920" y="9144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distraction, năng suất gấp đôi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1C2940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78308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731520" y="178308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fresh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931920" y="178308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niche/ads chuẩn xác hơn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6517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731520" y="2651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× 4-5h = 100h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931920" y="26517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tập trung — đủ để launch 100 sách đầu tiên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solidFill>
            <a:srgbClr val="1C2940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7200" y="352044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731520" y="352044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Lệch giờ gia đình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931920" y="352044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Guilt-free — không ai bị ảnh hưởng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Quy tắc khóa học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640080" y="10058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640080" y="10058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10058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34440" y="10058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 trong workshop (accountability)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640080" y="16916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640080" y="16916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34440" y="16916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sách thật, không "tưởng tượng"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640080" y="23774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640080" y="23774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34440" y="23774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NGAY khi tắc — không lưu trong đầu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30632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640080" y="30632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640080" y="30632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34440" y="30632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group: Telegram/Zalo riêng cho 3 ngày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640080" y="37490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5" name="Text 22"/>
          <p:cNvSpPr/>
          <p:nvPr/>
        </p:nvSpPr>
        <p:spPr>
          <a:xfrm>
            <a:off x="640080" y="37490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490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BẮT BUỘC — không làm, không kịp ngày sau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1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868680"/>
          <a:ext cx="8229600" cy="2880360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lượng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 &amp; Giới thiệu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0:10-0:30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Business Model 101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0:30-1:00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Account A-Z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1:00-1:40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 Hunting Framework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1:40-1:55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Workshop: Tìm 5 niche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1:55-2:00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 + Q&amp;A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trúc: Theory → Demo → Workshop → Q&amp;A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là gì?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005840"/>
            <a:ext cx="54864" cy="11887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107899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Kindle Direct Publishing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389888"/>
            <a:ext cx="7909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tự xuất bản sách của Amazon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format: Paperback, Hardcover, Kindle eBook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upload — không phí setup, không phí lưu kho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F5A623">
              <a:alpha val="2000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focus: Paperback Low-Content (margin tốt nhất cho newbie)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329184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Paperback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bìa mềm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33756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2918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2900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42900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bìa cứng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1792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2918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936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Kindle eBook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30936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điện tử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Low-Content vs No-Content vs Full-Content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645920"/>
                <a:gridCol w="155448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 dụ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 trắng, lined journal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Thấp nhất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$1-2/sale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Low-content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Coloring, Sudoku, Planner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bình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$2-5/sale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Workbook, Crossword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Cao hơn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$3-6/sale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Novel, How-to 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Rất cao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$4-8/sale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5A623">
              <a:alpha val="15000"/>
            </a:srgbClr>
          </a:solidFill>
        </p:spPr>
      </p:sp>
      <p:sp>
        <p:nvSpPr>
          <p:cNvPr id="6" name="Text 5"/>
          <p:cNvSpPr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Khuyến nghị newbie: Low-content (sweet spot effort/margin)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Royalty Model (60% Paperback)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98755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Royalty = (Price × 0.60) − Printing Cost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dụ: Bán $9.99 → Royalty = $9.99 × 0.60 − $2.30 = $3.69/sale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$3.69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5720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Royalty/sale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24612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$369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324612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sales/tháng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03504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30-50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03504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Cuốn năm 1 target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21 ngày: 100 cuốn sách → $100-500/tháng, nền tảng scale lên $1,000+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Royalty Calculator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097280"/>
                <a:gridCol w="109728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Size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Royalty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B&amp;W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$2.65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$3.34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B&amp;W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$2.86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8.5×8.5 Color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$4.85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Color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-$1.66 ❌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F4444">
              <a:alpha val="20000"/>
            </a:srgbClr>
          </a:solidFill>
        </p:spPr>
      </p:sp>
      <p:sp>
        <p:nvSpPr>
          <p:cNvPr id="8" name="Text 5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Color cao trang = LỖ. Quy tắc: Color ≤ 30 trang HOẶC B&amp;W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Thị trường KDP 2026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$25B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Amazon Books/năm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Self-published market share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$230M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Coloring book niche/năm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$1M+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KDP authors/năm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640080" y="23774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tế: 80% publishers kiếm &lt;$100/tháng → cần CHIẾN LƯỢC ĐÚNG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 Sai lầm khiến 80% Newbie thất bại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457200" y="914400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51560" y="914400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quá cạnh tranh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840480" y="914400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"unicorn coloring" → chết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627632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Shape 10"/>
          <p:cNvSpPr/>
          <p:nvPr/>
        </p:nvSpPr>
        <p:spPr>
          <a:xfrm>
            <a:off x="457200" y="1627632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4" name="Text 11"/>
          <p:cNvSpPr/>
          <p:nvPr/>
        </p:nvSpPr>
        <p:spPr>
          <a:xfrm>
            <a:off x="457200" y="1627632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51560" y="1627632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Cover/Interior xấu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840480" y="1627632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trong Word → không ai mua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340864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8" name="Shape 15"/>
          <p:cNvSpPr/>
          <p:nvPr/>
        </p:nvSpPr>
        <p:spPr>
          <a:xfrm>
            <a:off x="457200" y="2340864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9" name="Text 16"/>
          <p:cNvSpPr/>
          <p:nvPr/>
        </p:nvSpPr>
        <p:spPr>
          <a:xfrm>
            <a:off x="457200" y="2340864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51560" y="2340864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không SEO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840480" y="234086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keyword research → invisible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054096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0"/>
          <p:cNvSpPr/>
          <p:nvPr/>
        </p:nvSpPr>
        <p:spPr>
          <a:xfrm>
            <a:off x="457200" y="3054096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1"/>
          <p:cNvSpPr/>
          <p:nvPr/>
        </p:nvSpPr>
        <p:spPr>
          <a:xfrm>
            <a:off x="457200" y="3054096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51560" y="3054096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chạy Ads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840480" y="3054096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5,000,000+ → không ai thấy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3767328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767328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457200" y="3767328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51560" y="3767328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cuộc quá sớm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840480" y="3767328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100 sách để tìm Winner — volume is king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vs Các Business Online Khác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01168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Vốn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Passive %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Affiliate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Dropship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Print-on-demand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FBA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= vốn thấp nhất, passive cao nhất. Trade-off: market saturation cao.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Bức tranh lớn: Hệ thống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1097280"/>
            <a:ext cx="1051560" cy="640080"/>
          </a:xfrm>
          <a:prstGeom prst="rect">
            <a:avLst/>
          </a:prstGeom>
          <a:solidFill>
            <a:srgbClr val="3B82F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90472" y="1097280"/>
            <a:ext cx="1051560" cy="640080"/>
          </a:xfrm>
          <a:prstGeom prst="rect">
            <a:avLst/>
          </a:prstGeom>
          <a:solidFill>
            <a:srgbClr val="8B5CF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490472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42032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06624" y="1097280"/>
            <a:ext cx="1051560" cy="640080"/>
          </a:xfrm>
          <a:prstGeom prst="rect">
            <a:avLst/>
          </a:prstGeom>
          <a:solidFill>
            <a:srgbClr val="14B8A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06624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58184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22776" y="1097280"/>
            <a:ext cx="1051560" cy="64008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22776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74336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38928" y="1097280"/>
            <a:ext cx="1051560" cy="640080"/>
          </a:xfrm>
          <a:prstGeom prst="rect">
            <a:avLst/>
          </a:prstGeom>
          <a:solidFill>
            <a:srgbClr val="22C55E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38928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1097280"/>
            <a:ext cx="1051560" cy="640080"/>
          </a:xfrm>
          <a:prstGeom prst="rect">
            <a:avLst/>
          </a:prstGeom>
          <a:solidFill>
            <a:srgbClr val="EF4444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55080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571232" y="1097280"/>
            <a:ext cx="1051560" cy="64008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71232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19456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 có tool + checklist riêng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ngày khóa học = đi qua TOÀN BỘ chu trình 1 lần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khóa: lặp chu trình 10-20 lần để tìm winner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Setup Checklist — Chuẩn bị trước khi bắt đầu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Email mới (Gmail) dành riêng cho KDP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Tài khoản ngân hàng nhận USD (Payoneer / Wise)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Mã số thuế Mỹ (W-8BEN) — không cần SSN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Địa chỉ + số điện thoại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Chứng minh thư / Hộ chiếu (verify Amazon)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Author name (pen name OK)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1: Tạo Amazon Customer Account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0116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amazon.com → Create Account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RIÊNG (không dùng email cá nhân)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Mật khẩu mạnh + bật 2FA (Two-Factor Authentication)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640080" y="310896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KHÔNG dùng VPN trong giai đoạn này — Amazon ghét IP nhảy, dễ bị flag account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2: Đăng ký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kdp.amazon.com → Sign 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"Update Now" để hoàn tất profile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 cần fill: Author, Payment, Tax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Tất cả thông tin phải CHÍNH XÁC (Amazon verify)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3474720"/>
            <a:ext cx="260604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5720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cá nhân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3337560" y="347472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333756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khoản nhận tiền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6217920" y="3474720"/>
            <a:ext cx="260604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0" name="Text 18"/>
          <p:cNvSpPr/>
          <p:nvPr/>
        </p:nvSpPr>
        <p:spPr>
          <a:xfrm>
            <a:off x="621792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báo thuế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3: Author Information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6868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8686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Country/Region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86868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(hoặc nơi cư trú thực tế)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4592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164592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thật trên hộ chiếu (KHÔNG phải pen name)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2316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6" name="Text 14"/>
          <p:cNvSpPr/>
          <p:nvPr/>
        </p:nvSpPr>
        <p:spPr>
          <a:xfrm>
            <a:off x="731520" y="242316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242316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Địa chỉ thực tế (Amazon gửi tài liệu thuế)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00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0" name="Text 18"/>
          <p:cNvSpPr/>
          <p:nvPr/>
        </p:nvSpPr>
        <p:spPr>
          <a:xfrm>
            <a:off x="731520" y="320040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320040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VN OK (+84...)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4: Payment Method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19456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19456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</a:t>
            </a:r>
            <a:r>
              <a:rPr lang="vi-VN" alt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Worldfirst </a:t>
            </a: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(Khuyến nghị)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account payoneer.com → Free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"US Receiving Account"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routing + account vào KDP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 rút về VN: 1-2%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19456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19456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Wise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tự </a:t>
            </a: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worldfirst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account miễn phí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Tốc độ chuyển nhanh hơn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Option C — Direct ngân hàng VN: KHÔNG hoạt động cho US KDP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5: Tax Interview (W-8BEN)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solidFill>
            <a:srgbClr val="F59E0B">
              <a:alpha val="20000"/>
            </a:srgbClr>
          </a:solidFill>
        </p:spPr>
      </p:sp>
      <p:sp>
        <p:nvSpPr>
          <p:cNvPr id="7" name="Text 5"/>
          <p:cNvSpPr/>
          <p:nvPr/>
        </p:nvSpPr>
        <p:spPr>
          <a:xfrm>
            <a:off x="640080" y="7772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Bước QUAN TRỌNG NHẤT — sai = 30% withholding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84048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17320"/>
            <a:ext cx="54864" cy="22860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640080" y="149047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ITIN/EIN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01368"/>
            <a:ext cx="35204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 submit được W-8BEN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đầy đủ + Country: Vietnam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"Individual"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treaty: VN-US → claim 10%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Mặc định: 30% withholding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417320"/>
            <a:ext cx="41148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417320"/>
            <a:ext cx="54864" cy="22860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4" name="Text 12"/>
          <p:cNvSpPr/>
          <p:nvPr/>
        </p:nvSpPr>
        <p:spPr>
          <a:xfrm>
            <a:off x="4754880" y="149047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ITIN/EIN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1801368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ITIN vào form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Withholding: 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W-7 qua IRS Agent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rất cao nếu bán &gt; $500/tháng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Tax Treaty Vietnam-US (Quan trọng!)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có ITIN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không ITIN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2002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ký Hiệp định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286000"/>
            <a:ext cx="8229600" cy="16459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" y="2286000"/>
            <a:ext cx="54864" cy="1645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8" name="Text 15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lấy ITIN miễn phí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670048"/>
            <a:ext cx="790956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Form W-7 qua IRS Acceptance Agent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số newbie skip ITIN → mất 30% royalty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ROI: nếu kiếm $1000/tháng → mất $300 vs $100 (save $200/tháng)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Hoàn tất KDP Profile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280160"/>
            <a:ext cx="7863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share screen walkthrough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LÀM SONG SONG (workshop)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54864" cy="20116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1" name="Text 9"/>
          <p:cNvSpPr/>
          <p:nvPr/>
        </p:nvSpPr>
        <p:spPr>
          <a:xfrm>
            <a:off x="640080" y="217627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 khi setup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8716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format Mỹ vs VN (số nhà, đường, quận/huyện)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country code: +84 thay vì 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name typo → payment reject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hộ chiếu hết hạn → verify fail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Account Safety: Banned Terms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7772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BAO GIỜ dùng trong title/description/keywords: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9" name="Text 6"/>
          <p:cNvSpPr/>
          <p:nvPr/>
        </p:nvSpPr>
        <p:spPr>
          <a:xfrm>
            <a:off x="548640" y="128016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128016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"Best seller", "#1 bestseller"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28016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"Award winning"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0"/>
          <p:cNvSpPr/>
          <p:nvPr/>
        </p:nvSpPr>
        <p:spPr>
          <a:xfrm>
            <a:off x="548640" y="187452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05840" y="187452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người nổi tiếng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54880" y="187452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Disney, Marvel, Pokemon...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24688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7" name="Text 14"/>
          <p:cNvSpPr/>
          <p:nvPr/>
        </p:nvSpPr>
        <p:spPr>
          <a:xfrm>
            <a:off x="548640" y="246888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05840" y="246888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"Free", "100% free"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54880" y="246888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"Spiral bound", "Hard bound"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1" name="Text 18"/>
          <p:cNvSpPr/>
          <p:nvPr/>
        </p:nvSpPr>
        <p:spPr>
          <a:xfrm>
            <a:off x="548640" y="306324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5840" y="30632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"Calendar" (non-calendar)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0632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đối thủ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title bị block, tệ hơn = BANNED account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Account Safety: Multi-account Rules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743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người = 1 account KDP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địa chỉ + thuế + payment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 (bút danh) trong 1 account: 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name: KHÔNG giới hạn số lượng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1: tuyệt đối CHỈ 1 account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0" y="91440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914400"/>
            <a:ext cx="54864" cy="2743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0"/>
          <p:cNvSpPr/>
          <p:nvPr/>
        </p:nvSpPr>
        <p:spPr>
          <a:xfrm>
            <a:off x="4754880" y="98755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BAN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54880" y="129844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tạo 2 account cùng IP/device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dùng chung payment method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 toàn bộ account + freeze tiền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"Family member" = grey zone, risky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Publishing Limits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titles/format/tuần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titles/tuần (3 format)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2-3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3504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sách/tuần (newbie khuyến nghị)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468880"/>
            <a:ext cx="54864" cy="13716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5"/>
          <p:cNvSpPr/>
          <p:nvPr/>
        </p:nvSpPr>
        <p:spPr>
          <a:xfrm>
            <a:off x="640080" y="254203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285292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paperback + 10 ebook + 10 hardcover = 30 titles/tuần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= bị flag → review 7-30 ngày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Newbie: 2-3 sách/tuần là tối ưu, không nên vượt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Workshop: Setup Account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WORKSHOP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Account KDP HOẠT ĐỘNG cuối buổi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Tạo email mới (Gmail)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Đăng ký Payoneer / Wise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Tạo KDP account tại kdp.amazon.com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Hoàn tất Author + Payment + Tax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Screenshot Tax Status = "Validated"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Giảng viên hỗ trợ 1-1 nếu bị tắc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Niche QUAN TRỌNG nhất?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384048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3840480" cy="75438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70%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66878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công phụ thuộc vào Niche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0" y="914400"/>
            <a:ext cx="41148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914400"/>
            <a:ext cx="54864" cy="13716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9"/>
          <p:cNvSpPr/>
          <p:nvPr/>
        </p:nvSpPr>
        <p:spPr>
          <a:xfrm>
            <a:off x="4754880" y="98755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cùng effort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754880" y="1298448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tốt → $500/tháng/sách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xấu → $5/tháng/sách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"Don't compete, dominate a sub-niche"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tắc: chọn niche nơi bạn có thể là TOP 10 trong 21 ngày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Blue Ocean Framework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0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457200" y="9144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188720" y="9144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đủ lớn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89120" y="9144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 sales/tháng cho top 10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828800"/>
            <a:ext cx="548640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1"/>
          <p:cNvSpPr/>
          <p:nvPr/>
        </p:nvSpPr>
        <p:spPr>
          <a:xfrm>
            <a:off x="457200" y="18288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88720" y="18288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đủ yếu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389120" y="18288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có ≥ 3 sách BSR &gt; 200,000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743200"/>
            <a:ext cx="548640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9" name="Text 16"/>
          <p:cNvSpPr/>
          <p:nvPr/>
        </p:nvSpPr>
        <p:spPr>
          <a:xfrm>
            <a:off x="457200" y="27432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88720" y="27432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Bạn làm được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389120" y="27432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skill + budget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840480"/>
            <a:ext cx="384048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23" name="Text 20"/>
          <p:cNvSpPr/>
          <p:nvPr/>
        </p:nvSpPr>
        <p:spPr>
          <a:xfrm>
            <a:off x="640080" y="38404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Red Ocean: "Mandala coloring", "Adult coloring book"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0" y="3840480"/>
            <a:ext cx="4114800" cy="457200"/>
          </a:xfrm>
          <a:prstGeom prst="rect">
            <a:avLst/>
          </a:prstGeom>
          <a:solidFill>
            <a:srgbClr val="22C55E">
              <a:alpha val="15000"/>
            </a:srgbClr>
          </a:solidFill>
        </p:spPr>
      </p:sp>
      <p:sp>
        <p:nvSpPr>
          <p:cNvPr id="25" name="Text 22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Blue Ocean: "Mandala for left-handed seniors"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BSR là gì? (Best Seller Rank)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 Rank — Thứ hạng sách trên Amazon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Càng THẤP càng bán chạy (BSR #1 = bán nhất category)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cập nhật mỗi giờ theo doanh số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check: scroll xuống "Product details" trên Amazon listing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khác nhau theo từng category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BSR → Daily Sales (Công thức ước tính)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30" name="Table 0"/>
          <p:cNvGraphicFramePr>
            <a:graphicFrameLocks noGrp="1"/>
          </p:cNvGraphicFramePr>
          <p:nvPr/>
        </p:nvGraphicFramePr>
        <p:xfrm>
          <a:off x="457200" y="822960"/>
          <a:ext cx="8229600" cy="2688336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 Range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– 500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 – 15,000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– 3,000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– 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– 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– 300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 – 200,000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– 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Sweet Spot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200,000 – 500,000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Sweet spot cho niche newbie target: BSR 50,000 – 200,000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Opportunity Score Formula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225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Opportunity = (Demand × 0.4) + (Profit × 0.3) - (Competition × 0.3)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Demand      = avg(monthly_sales of top 10)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Profit      = avg royalty per sale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 = số reviews trung bình top 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46888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" name="Text 8"/>
          <p:cNvSpPr/>
          <p:nvPr/>
        </p:nvSpPr>
        <p:spPr>
          <a:xfrm>
            <a:off x="45720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≥ 70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NICHE 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2468880"/>
            <a:ext cx="260604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333756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50-70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— xem xét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468880"/>
            <a:ext cx="260604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8" name="Text 16"/>
          <p:cNvSpPr/>
          <p:nvPr/>
        </p:nvSpPr>
        <p:spPr>
          <a:xfrm>
            <a:off x="621792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50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❌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9 Data Sources cho Niche Research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32004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Tools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Search Bar — Autocomplete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Bestsellers — Category cụ thể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Reviews — Pain points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Trends — Trend data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Trends — Visual niches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Etsy — Trend ngoài Amazon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32004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($199) — Lifetime 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KDSPY ($129) — Lifetime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($39/m) — Full SEO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Free Method: Amazon Autocomplete Hack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5029200" cy="20116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987552"/>
            <a:ext cx="4754880" cy="18653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vào Amazon search bar: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"coloring book for ___" → A, B, C, D...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"sudoku for ___"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"journal for ___"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"activity book for ___"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Mỗi gợi ý = keyword có demand thực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60720" y="914400"/>
            <a:ext cx="292608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914400"/>
            <a:ext cx="54864" cy="20116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1" name="Text 8"/>
          <p:cNvSpPr/>
          <p:nvPr/>
        </p:nvSpPr>
        <p:spPr>
          <a:xfrm>
            <a:off x="5943600" y="9875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ví dụ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0" y="1298448"/>
            <a:ext cx="260604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8-12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dementia patients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 relief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50-100 keyword vào spreadsheet → chọn lọc sau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Free Method: Best Seller Rank Mining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3716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Amazon Bestsellers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amazon.com/Best-Sellers-Books/zgbs/books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→ Crafts &amp; Hobbies → Drawing → Coloring 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100 bestseller → xem niche pattern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22C55E">
              <a:alpha val="15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BSR 50K-200K mà reviews &lt; 50 = OPPORTUNITY 🌟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Paid Tool Demo: Publisher Rocket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0" name="Text 8"/>
          <p:cNvSpPr/>
          <p:nvPr/>
        </p:nvSpPr>
        <p:spPr>
          <a:xfrm>
            <a:off x="640080" y="1417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+ Competition 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6032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2"/>
          <p:cNvSpPr/>
          <p:nvPr/>
        </p:nvSpPr>
        <p:spPr>
          <a:xfrm>
            <a:off x="640080" y="260604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Search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0175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category yếu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37160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37160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8" name="Text 16"/>
          <p:cNvSpPr/>
          <p:nvPr/>
        </p:nvSpPr>
        <p:spPr>
          <a:xfrm>
            <a:off x="4754880" y="1417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Analyzer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18288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top 10 cho keyword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56032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256032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20"/>
          <p:cNvSpPr/>
          <p:nvPr/>
        </p:nvSpPr>
        <p:spPr>
          <a:xfrm>
            <a:off x="4754880" y="260604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 Keyword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cho Amazon Ads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Phân tích Niche từ A-Z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4572000" cy="320040"/>
          </a:xfrm>
          <a:prstGeom prst="rect">
            <a:avLst/>
          </a:prstGeom>
          <a:solidFill>
            <a:srgbClr val="F5A623">
              <a:alpha val="20000"/>
            </a:srgbClr>
          </a:solidFill>
        </p:spPr>
      </p:sp>
      <p:sp>
        <p:nvSpPr>
          <p:cNvPr id="7" name="Text 5"/>
          <p:cNvSpPr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thử: "Sudoku for Seniors Large Print"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/>
        </p:nvGraphicFramePr>
        <p:xfrm>
          <a:off x="457200" y="1234440"/>
          <a:ext cx="8229600" cy="18288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828800"/>
                <a:gridCol w="1828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5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Kết luận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 ❌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✅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✅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Cạnh tranh vừa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tốt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200400" y="3108960"/>
            <a:ext cx="27432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0" y="3154680"/>
            <a:ext cx="274320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73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0" y="3762756"/>
            <a:ext cx="274320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Score = HOT 🔥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Niche Validation Checklist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Demand: top 10 có ≥ 5 cuốn BSR &lt; 200,000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Competition: ít nhất 3 cuốn top 10 có &lt; 100 reviews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Profit: avg price ≥ $7.99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Page count khả thi: &lt; 100 trang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Bạn đủ skill/tool để tạo content niche này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Không vi phạm trademark/brand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Không seasonal quá hẹp (Halloween-only = chỉ bán 2 tháng)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Kill List — KHÔNG CHỌN niche nào?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640080" y="91440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"Adult coloring book"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97680" y="91440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ocean — quá cạnh tranh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5087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0"/>
          <p:cNvSpPr/>
          <p:nvPr/>
        </p:nvSpPr>
        <p:spPr>
          <a:xfrm>
            <a:off x="640080" y="150876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"Mandala" generic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297680" y="150876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— hàng triệu kết quả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21031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7" name="Text 14"/>
          <p:cNvSpPr/>
          <p:nvPr/>
        </p:nvSpPr>
        <p:spPr>
          <a:xfrm>
            <a:off x="640080" y="210312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Cartoon characters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297680" y="210312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Disney/Pixar — copyright violation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269748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1" name="Text 18"/>
          <p:cNvSpPr/>
          <p:nvPr/>
        </p:nvSpPr>
        <p:spPr>
          <a:xfrm>
            <a:off x="640080" y="269748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"Bible verses coloring"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97680" y="269748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Oversaturated — margins thấp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457200" y="32918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5" name="Text 22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Niche &lt; 30 sales/tháng top 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297680" y="329184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demand — không đáng effort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8862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640080" y="388620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Niche top 1 BSR &lt; 5,000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Whale — không cạnh tranh nổi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50 Niche Ideas — Demo Brainstorm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Coloring &amp; Puzzle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Sudoku Large Print 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Kawaii Cat Café Coloring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Dot-to-Dot Adults Travel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Mindful Mandala for Anxiety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Tracker Journal Minimalist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Journal Week-by-Week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926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Planner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 Planner ADHD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Search Bible Large Print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Fishing Log Book for Dad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Gratitude Journal Teen Boys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Flower Garden Coloring 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Games Memory Focus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+ 38 more niches trong tài liệu khóa học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Workshop: Niche Hunting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WORKSHOP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Có 5 niche shortlist có Opportunity Score ≥ 60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Mở Amazon, dùng autocomplete + bestseller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Note 20 niche idea raw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Apply validation checklist → loại 15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5 niche còn lại: tính Opportunity Score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Note vào Google Sheet (template provided)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Niche Tracking Sheet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1" name="Table 0"/>
          <p:cNvGraphicFramePr>
            <a:graphicFrameLocks noGrp="1"/>
          </p:cNvGraphicFramePr>
          <p:nvPr/>
        </p:nvGraphicFramePr>
        <p:xfrm>
          <a:off x="274320" y="822960"/>
          <a:ext cx="8595360" cy="246888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1097280"/>
                <a:gridCol w="1188720"/>
                <a:gridCol w="1097280"/>
                <a:gridCol w="91440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 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 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Reviews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Sudoku Seniors LP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 Café Coloring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Games Elderly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(Bạn điền)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(Bạn điền)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Google Sheet sẽ được share trong group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Tổng kết Day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KDP business model + royalty math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Account KDP active, tax submitted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 5 niche shortlist với Opportunity Score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Blue Ocean framework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Homework Day 1 → Day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Hoàn tất account nếu chưa xong (deadline 9PM tối nay)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Đào sâu 5 niche → chọn 1 niche làm sách thật ngày 2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Mua tool (optional): Publisher Rocket / KDSPY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Đọc bài: "10 Mistakes New KDP Publishers Make"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Chuẩn bị máy tính có Photoshop/GIMP/Canva (Day 2 cần)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Ngủ trước 10PM — mai 5AM lại gặp!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F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Q&amp;A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Câu hỏi nào cũng OK — đặc biệt câu 'ngu ngơ'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mic 5 phút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Shape 1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4" name="Text 2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PRODUCTION &amp; LISTING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"Done is better than perfect"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Sản xuất sách &amp; Upload lên KDP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7"/>
          <p:cNvSpPr/>
          <p:nvPr/>
        </p:nvSpPr>
        <p:spPr>
          <a:xfrm>
            <a:off x="548640" y="46405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1 Recap + Homework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poll: ai có 5 niche shortlist? Ai chọn được niche cho ngày 2?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3 best niche từ học viên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issues: account verify, tax stuck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2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7" name="Table 0"/>
          <p:cNvGraphicFramePr>
            <a:graphicFrameLocks noGrp="1"/>
          </p:cNvGraphicFramePr>
          <p:nvPr/>
        </p:nvGraphicFramePr>
        <p:xfrm>
          <a:off x="457200" y="868680"/>
          <a:ext cx="8229600" cy="3072384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0:00-0:05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Recap + Homework check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0:05-0:20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Anatomy of a KDP 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0:20-0:40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Tools Stack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0:40-1:20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Demo: Tạo Interior + Cover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1:20-1:45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SEO Deep Dive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1:45-1:55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Upload Step-by-Step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1:55-2:00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+ Q&amp;A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Thành phần một sách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2606040" cy="54864"/>
          </a:xfrm>
          <a:prstGeom prst="rect">
            <a:avLst/>
          </a:prstGeom>
          <a:solidFill>
            <a:srgbClr val="3B82F6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1887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bên trong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(manuscript)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37560" y="914400"/>
            <a:ext cx="2606040" cy="54864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1887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PDF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47472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Bìa full wrap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 + spine + back)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91440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1887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35508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keywords, categories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review cả 3 thành phần — 1 sai = reject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Trim Size — Chọn kích thước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9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246888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Phù hợp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Ghi chú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15.24×22.86cm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Novel, journal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text-heavy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21.59×27.94cm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Coloring, Activity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popular low-content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8.5×8.5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21.59×21.59cm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 coloring kids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Khuyến nghị cho kids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7×10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17.78×25.4cm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Compact, save cost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Khóa học default: 8.5×11 portrait (phù hợp 90% low-content)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Page Count Rules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pages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828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pages (B&amp;W)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60-100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 newbie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8229600" cy="16459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286000"/>
            <a:ext cx="54864" cy="1645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quan trọng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2670048"/>
            <a:ext cx="790956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page count BẮT BUỘC (nếu lẻ → KDP reject)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chỉ khi ≥ 79 trang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max 590 trang, B&amp;W max 828 trang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Margins &amp; Bleed (KDP Rules)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margin: 0.25" tối thiểu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Top/Bottom: 0.25" tối thiểu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Bleed: 0.125" mỗi cạnh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18288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margin (Gutter)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24-150 trang: 0.375"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151-300 trang: 0.5"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301-500 trang: 0.625"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701+ trang: 0.875"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khóa học: dùng template 8.5×11 đã pre-set margin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Cover Anatomy (Full Wrap)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6824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 = (Trim Width × 2) + Spine Width + (Bleed × 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 = Trim Height + (Bleed × 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Spine  = Page count × 0.002252" (B&amp;W white paper)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 100 trang 8.5×11: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Spine  = 100 × 0.002252 = 0.2252"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  = (8.5 × 2) + 0.2252 + 0.25 = 17.4752"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 = 11 + 0.25 = 11.25"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DPI &amp; Image Quality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300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minimum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tốt nhất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CMYK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mode preferred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" y="2286000"/>
            <a:ext cx="54864" cy="13716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5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67004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DPI (web) = REJECT ngay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transparency — flatten trước khi export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JPG chất lượng cao cũng OK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Interior Structure (Chuẩn)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91440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 (Title + Author)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60320" y="169164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page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3-N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60320" y="246888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pages (coloring/sudoku...)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N+1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560320" y="324612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/ Note from author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count phải EVEN — thêm blank page nếu cần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Top 10 Lý do bị KDP Reject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457200" y="91440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91440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mismatch (title cover ≠ title listing)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55448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57200" y="155448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55448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khi page count &lt; 79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19456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457200" y="219456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19456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Margins/bleed sai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83464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457200" y="283464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83464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&lt; 300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47472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47472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457200" y="347472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4747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count lẻ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91440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0" y="91440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4572000" y="91440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91440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dimensions sai (spine math wrong)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1" name="Shape 29"/>
          <p:cNvSpPr/>
          <p:nvPr/>
        </p:nvSpPr>
        <p:spPr>
          <a:xfrm>
            <a:off x="4572000" y="155448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2" name="Text 30"/>
          <p:cNvSpPr/>
          <p:nvPr/>
        </p:nvSpPr>
        <p:spPr>
          <a:xfrm>
            <a:off x="4572000" y="155448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0" y="155448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marks / annotations trong PDF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219456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5" name="Shape 33"/>
          <p:cNvSpPr/>
          <p:nvPr/>
        </p:nvSpPr>
        <p:spPr>
          <a:xfrm>
            <a:off x="4572000" y="219456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6" name="Text 34"/>
          <p:cNvSpPr/>
          <p:nvPr/>
        </p:nvSpPr>
        <p:spPr>
          <a:xfrm>
            <a:off x="4572000" y="219456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19456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terms trong metadata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0" y="283464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9" name="Shape 37"/>
          <p:cNvSpPr/>
          <p:nvPr/>
        </p:nvSpPr>
        <p:spPr>
          <a:xfrm>
            <a:off x="4572000" y="283464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0" name="Text 38"/>
          <p:cNvSpPr/>
          <p:nvPr/>
        </p:nvSpPr>
        <p:spPr>
          <a:xfrm>
            <a:off x="4572000" y="283464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9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0" y="283464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Trademark violation (cartoon characters)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0" y="347472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43" name="Shape 41"/>
          <p:cNvSpPr/>
          <p:nvPr/>
        </p:nvSpPr>
        <p:spPr>
          <a:xfrm>
            <a:off x="4572000" y="347472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4" name="Text 42"/>
          <p:cNvSpPr/>
          <p:nvPr/>
        </p:nvSpPr>
        <p:spPr>
          <a:xfrm>
            <a:off x="4572000" y="347472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29200" y="34747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ISBN trên cover ≠ ISBN trong KDP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Tools Map — Production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54864" cy="2926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45720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Free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Image Creator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Leonardo.ai (free credits)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Sudoku.com generator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338328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Stack ($50-100)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Pro ($12/m)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Affinity Publisher ($70)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Midjourney ($10/m)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Banana Pro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22960"/>
            <a:ext cx="54864" cy="292608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6" name="Text 14"/>
          <p:cNvSpPr/>
          <p:nvPr/>
        </p:nvSpPr>
        <p:spPr>
          <a:xfrm>
            <a:off x="630936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Stack ($200+)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InDesign ($55/m)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 ($23/m)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(Anthropic)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pipelines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Tool theo Loại sách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57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sách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chính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Time/sách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image gen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Sudoku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script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Journal/Planner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Canva templates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 tools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Search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Image Generation cho Coloring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58" name="Table 0"/>
          <p:cNvGraphicFramePr>
            <a:graphicFrameLocks noGrp="1"/>
          </p:cNvGraphicFramePr>
          <p:nvPr/>
        </p:nvGraphicFramePr>
        <p:xfrm>
          <a:off x="457200" y="868680"/>
          <a:ext cx="8229600" cy="2304288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Ưu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Nhược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Midjourney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Chất lượng cao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 Banana Pro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Rẻ, fast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Cần token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Bing Image Creator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Dễ dùng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Chất lượng TB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Leonardo.ai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150/ngày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Nhiều style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Giới hạn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DALL-E 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Dễ dùng nhất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Chậm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demo: Nano Banana Pro (free + chất lượng tốt cho coloring)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Prompt Engineering — Coloring (Adults)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coloring book page for adults, [SUBJECT],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black and white line art, clean bold outlines,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 detail, kawaii cute proportions,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layered foreground/midground/background,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border, NO frame, NO enclosing rectangle,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 background, printable on 8.5x11 paper, 300 DPI.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59E0B">
              <a:alpha val="20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"NO border / NO frame" — PHẢI CÓ, AI rất hay tự vẽ frame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Prompt Engineering — Coloring (Kids 6-12)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316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coloring book page for kids age 6-12, [SUBJECT],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bold thick clean outlines, single centered subject,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shading, NO gradients, NO complex details,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border, NO frame, NO enclosing rectangle,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 background, simple cartoon style, 300 DPI.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adults: outline DÀY hơn, ít detail hơn, single subject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Tạo 30 trang Coloring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9" name="Text 7"/>
          <p:cNvSpPr/>
          <p:nvPr/>
        </p:nvSpPr>
        <p:spPr>
          <a:xfrm>
            <a:off x="594360" y="1353312"/>
            <a:ext cx="7955280" cy="6766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scripts/generate_images.py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--plan output/cozy_cat_cafe/plan.json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30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.env với NANOPIC_ACCESS_TOKEN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plan.json với 30 prompts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script → 30 images xuất ra images/page_NN.png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nếu fail: --start 15 (skip 1-14)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check: review 5 random pages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Sudoku Generator (Built-in Script)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scripts/generate_sudoku.py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100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--difficulty mixed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--output output/sudoku_seniors_lp/puzzles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puzzle 9×9 unique solution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Difficulty: easy/medium/hard/expert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PNG + JSON solutions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Built-in: backtracking + uniqueness verifier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Build Interior PDF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scripts/build_pdf.py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cozy_cat_cafe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Art"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--size 8.5x11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11680"/>
            <a:ext cx="54864" cy="20116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" name="Text 8"/>
          <p:cNvSpPr/>
          <p:nvPr/>
        </p:nvSpPr>
        <p:spPr>
          <a:xfrm>
            <a:off x="640080" y="208483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9572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 + copyright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images với blank backs (odd = coloring, even = blank)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Thank-you page cuối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page count enforce (thêm blank nếu lẻ)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margin scale theo page count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Build Cover PDF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950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scripts/generate_cover.py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cozy_cat_cafe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Art"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--kdp-width 17.4752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--kdp-height 11.25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54864" cy="18288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0" name="Text 8"/>
          <p:cNvSpPr/>
          <p:nvPr/>
        </p:nvSpPr>
        <p:spPr>
          <a:xfrm>
            <a:off x="640080" y="217627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87168"/>
            <a:ext cx="79095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front art (AI) + composite spine + back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front_artwork.png (reuse cho rebuild — tiết kiệm $$)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cover.pdf ready upload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QC trước khi Upload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scripts/pdf_qc.py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--pdf output/cozy_cat_cafe/interior.pdf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--trim 8.5x11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--require-even-pages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Trim size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Bleed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Even pages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01168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Line weight ≥ 0.75pt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251460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DPI ≥ 300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No annotations/crop marks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= ready upload. Fail = fix theo error message.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Tạo 1 Sách End-to-End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Sudoku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Niche: Large Print Seniors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8.5×11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Size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6344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35'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target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1: Plan.json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scripts/plan_book.py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--concept "Large Print Sudoku for Seniors"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--audience seniors --pages 60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--theme-key large_print_sudoku_seniors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plan.json với title, subtitle, description, 7 keywords, 2 categories, 60 page prompts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2: Generate Sudoku Puzzles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scripts/generate_sudoku.py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--book-dir output/large_print_sudoku_seniors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60 --difficulty progressive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puzzles từ easy → expert (progressive), output: puzzles/p01.json...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3: Build Interior PDF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scripts/build_sudoku_book.py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Brain"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+ Copyright + How to play + 60 puzzles + Solutions + Thank-you = 124 pages (even ✅)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4: Generate Cover (10')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scripts/generate_cover.py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Brain"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 art → Spine auto: 124 × 0.002252 = 0.279" → Full wrap: 17.529 × 11.25"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5: QC Pre-flight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scripts/pdf_qc.py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--pdf output/large_print_sudoku_seniors/interior.pdf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--trim 8.5x11 --require-even-pages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✅ ALL CHECKS PASSED — nếu fail → debug theo error code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6: Manual Review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Title page đúng tên sách + tên tác giả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Copyright year đúng (2026)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Random check 5 puzzle pages — readable?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Solutions matched với puzzles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Page numbering OK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Cover front/back/spine align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 Recap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35'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124p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(free credits)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Upload lên KDP →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Agent System — Tự Động Hóa Sản Xuất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8 AI Agents hoạt động như 1 công ty xuất bản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điều phối + 7 trưởng phòng chuyên môn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động: research → production → QC → listing → ads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/kdp-create-book — chỉ cần nhập concept, agent lo hết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3931920" cy="14630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468880"/>
            <a:ext cx="393192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457200" y="260604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(vừa học)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phút / 1 sách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468880"/>
            <a:ext cx="3931920" cy="14630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63440" y="2468880"/>
            <a:ext cx="3931920" cy="54864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7" name="Text 14"/>
          <p:cNvSpPr/>
          <p:nvPr/>
        </p:nvSpPr>
        <p:spPr>
          <a:xfrm>
            <a:off x="4663440" y="260604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System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63440" y="301752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phút setup → tự chạy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Cấu trúc công ty AI — 8 Agents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2926080" y="731520"/>
            <a:ext cx="3291840" cy="50292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926080" y="7315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— Master Orchestrator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0" y="1234440"/>
            <a:ext cx="0" cy="27432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0332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0332" y="1554480"/>
            <a:ext cx="2011680" cy="457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9"/>
          <p:cNvSpPr/>
          <p:nvPr/>
        </p:nvSpPr>
        <p:spPr>
          <a:xfrm>
            <a:off x="370332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Hunter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70332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TT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00884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500884" y="1554480"/>
            <a:ext cx="2011680" cy="457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3"/>
          <p:cNvSpPr/>
          <p:nvPr/>
        </p:nvSpPr>
        <p:spPr>
          <a:xfrm>
            <a:off x="2500884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Gen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500884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sách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31436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31436" y="1554480"/>
            <a:ext cx="2011680" cy="4572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20" name="Text 17"/>
          <p:cNvSpPr/>
          <p:nvPr/>
        </p:nvSpPr>
        <p:spPr>
          <a:xfrm>
            <a:off x="4631436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Designer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631436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bìa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761988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761988" y="1554480"/>
            <a:ext cx="2011680" cy="45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4" name="Text 21"/>
          <p:cNvSpPr/>
          <p:nvPr/>
        </p:nvSpPr>
        <p:spPr>
          <a:xfrm>
            <a:off x="6761988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Writer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761988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Amazon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435608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435608" y="2971800"/>
            <a:ext cx="2011680" cy="457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5"/>
          <p:cNvSpPr/>
          <p:nvPr/>
        </p:nvSpPr>
        <p:spPr>
          <a:xfrm>
            <a:off x="1435608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Reviewer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435608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QA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566160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566160" y="2971800"/>
            <a:ext cx="2011680" cy="457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2" name="Text 29"/>
          <p:cNvSpPr/>
          <p:nvPr/>
        </p:nvSpPr>
        <p:spPr>
          <a:xfrm>
            <a:off x="3566160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Manager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66160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Quảng cáo SP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696712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696712" y="2971800"/>
            <a:ext cx="2011680" cy="457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6" name="Text 33"/>
          <p:cNvSpPr/>
          <p:nvPr/>
        </p:nvSpPr>
        <p:spPr>
          <a:xfrm>
            <a:off x="5696712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696712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data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Pipeline LAUNCH — Từ Concept → Sách Live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914400"/>
            <a:ext cx="155448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Shape 6"/>
          <p:cNvSpPr/>
          <p:nvPr/>
        </p:nvSpPr>
        <p:spPr>
          <a:xfrm>
            <a:off x="777240" y="1097280"/>
            <a:ext cx="548640" cy="5486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9" name="Text 7"/>
          <p:cNvSpPr/>
          <p:nvPr/>
        </p:nvSpPr>
        <p:spPr>
          <a:xfrm>
            <a:off x="77724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7432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Wave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∥ Listing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(song song)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57400" y="914400"/>
            <a:ext cx="1554480" cy="54864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15" name="Shape 13"/>
          <p:cNvSpPr/>
          <p:nvPr/>
        </p:nvSpPr>
        <p:spPr>
          <a:xfrm>
            <a:off x="2560320" y="1097280"/>
            <a:ext cx="548640" cy="548640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6" name="Text 14"/>
          <p:cNvSpPr/>
          <p:nvPr/>
        </p:nvSpPr>
        <p:spPr>
          <a:xfrm>
            <a:off x="256032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05740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5740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+ Spine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 wrap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1188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84048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40480" y="914400"/>
            <a:ext cx="155448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2" name="Shape 20"/>
          <p:cNvSpPr/>
          <p:nvPr/>
        </p:nvSpPr>
        <p:spPr>
          <a:xfrm>
            <a:off x="4343400" y="1097280"/>
            <a:ext cx="548640" cy="54864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23" name="Text 21"/>
          <p:cNvSpPr/>
          <p:nvPr/>
        </p:nvSpPr>
        <p:spPr>
          <a:xfrm>
            <a:off x="434340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84048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9496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62356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23560" y="914400"/>
            <a:ext cx="155448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9" name="Shape 27"/>
          <p:cNvSpPr/>
          <p:nvPr/>
        </p:nvSpPr>
        <p:spPr>
          <a:xfrm>
            <a:off x="6126480" y="1097280"/>
            <a:ext cx="548640" cy="548640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30" name="Text 28"/>
          <p:cNvSpPr/>
          <p:nvPr/>
        </p:nvSpPr>
        <p:spPr>
          <a:xfrm>
            <a:off x="61264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62356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ASIN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7804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40664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06640" y="914400"/>
            <a:ext cx="155448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6" name="Shape 34"/>
          <p:cNvSpPr/>
          <p:nvPr/>
        </p:nvSpPr>
        <p:spPr>
          <a:xfrm>
            <a:off x="7909560" y="1097280"/>
            <a:ext cx="548640" cy="548640"/>
          </a:xfrm>
          <a:prstGeom prst="ellipse">
            <a:avLst/>
          </a:prstGeom>
          <a:solidFill>
            <a:srgbClr val="F5A623"/>
          </a:solidFill>
        </p:spPr>
      </p:sp>
      <p:sp>
        <p:nvSpPr>
          <p:cNvPr id="37" name="Text 35"/>
          <p:cNvSpPr/>
          <p:nvPr/>
        </p:nvSpPr>
        <p:spPr>
          <a:xfrm>
            <a:off x="790956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40664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40664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campaigns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setup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chạy SONG SONG: Manuscript Generator + Listing Copywriter cùng lúc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Agent 02: Manuscript Generator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972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kdp-prompt-writer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prompt cho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từng trang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60604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60604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972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0604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kdp-image-generator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260604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ảnh AI qua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5488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75488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09728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5488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kdp-image-reviewer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75488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bằng vision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auto-regen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90372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90372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09728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90372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kdp-book-builder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690372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interior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hoàn chỉnh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Auto-review: PASS / WARN / REDO — max 2 lần regen/trang, sau đó skip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max 6 sách cùng lúc (image API + PDF CPU)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Các Agent khác trong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73152" cy="118872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731520" y="8229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Full-wrap cover (front + spine + back)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KDP dimension check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artwork mặc định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8229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kdp-cover-creator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kdp-cover-checker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194560"/>
            <a:ext cx="73152" cy="11887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1"/>
          <p:cNvSpPr/>
          <p:nvPr/>
        </p:nvSpPr>
        <p:spPr>
          <a:xfrm>
            <a:off x="731520" y="21945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Reviewer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0" y="21945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Pre-publish audit: interior + cover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consistency check (#1 reject)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21945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quality-reviewer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pdf_qc.py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1188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Copywriter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5661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title/subtitle (200 char max)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backend keywords unique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term auto-check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5661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kdp-book-detail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CEO điều phối 7 Pipelines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822960"/>
            <a:ext cx="73152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731520" y="82296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926080" y="822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1 sách end-to-end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389888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389888"/>
            <a:ext cx="73152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0"/>
          <p:cNvSpPr/>
          <p:nvPr/>
        </p:nvSpPr>
        <p:spPr>
          <a:xfrm>
            <a:off x="731520" y="138988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26080" y="138988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 + alerts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1956816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1956816"/>
            <a:ext cx="73152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731520" y="195681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weekly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26080" y="1956816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+ dispatch actions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2523744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2523744"/>
            <a:ext cx="73152" cy="45720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1" name="Text 18"/>
          <p:cNvSpPr/>
          <p:nvPr/>
        </p:nvSpPr>
        <p:spPr>
          <a:xfrm>
            <a:off x="731520" y="25237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926080" y="2523744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1 sách (ads/listing)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3090672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457200" y="3090672"/>
            <a:ext cx="73152" cy="45720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5" name="Text 22"/>
          <p:cNvSpPr/>
          <p:nvPr/>
        </p:nvSpPr>
        <p:spPr>
          <a:xfrm>
            <a:off x="731520" y="30906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926080" y="3090672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→ +30% budget + series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657600"/>
            <a:ext cx="73152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73152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2926080" y="3657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ads, book → DORMANT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2" name="Shape 29"/>
          <p:cNvSpPr/>
          <p:nvPr/>
        </p:nvSpPr>
        <p:spPr>
          <a:xfrm>
            <a:off x="457200" y="4224528"/>
            <a:ext cx="73152" cy="45720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33" name="Text 30"/>
          <p:cNvSpPr/>
          <p:nvPr/>
        </p:nvSpPr>
        <p:spPr>
          <a:xfrm>
            <a:off x="731520" y="422452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seasonal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2926080" y="422452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books cho mùa lễ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pipeline = 1 row trong DB — audit trail đầy đủ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/kdp-create-book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896112"/>
            <a:ext cx="795528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/kdp-create-book "cozy cats in a cafe coloring book"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0" name="Text 7"/>
          <p:cNvSpPr/>
          <p:nvPr/>
        </p:nvSpPr>
        <p:spPr>
          <a:xfrm>
            <a:off x="640080" y="15087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743200" y="15087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hỏi: audience, pages, theme_key, author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150876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01168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4" name="Text 11"/>
          <p:cNvSpPr/>
          <p:nvPr/>
        </p:nvSpPr>
        <p:spPr>
          <a:xfrm>
            <a:off x="640080" y="201168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Prompts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743200" y="20116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viết SEO metadata + 30 page prompts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0" y="201168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2'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8" name="Text 15"/>
          <p:cNvSpPr/>
          <p:nvPr/>
        </p:nvSpPr>
        <p:spPr>
          <a:xfrm>
            <a:off x="640080" y="251460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Images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743200" y="251460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→ 30 coloring pages (parallel 6)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72400" y="251460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19"/>
          <p:cNvSpPr/>
          <p:nvPr/>
        </p:nvSpPr>
        <p:spPr>
          <a:xfrm>
            <a:off x="640080" y="30175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Regen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743200" y="30175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check → auto regen nếu lỗi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772400" y="301752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6" name="Text 23"/>
          <p:cNvSpPr/>
          <p:nvPr/>
        </p:nvSpPr>
        <p:spPr>
          <a:xfrm>
            <a:off x="640080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PDF + Cover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2743200" y="352044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 + full wrap cover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772400" y="352044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3'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30" name="Text 27"/>
          <p:cNvSpPr/>
          <p:nvPr/>
        </p:nvSpPr>
        <p:spPr>
          <a:xfrm>
            <a:off x="640080" y="40233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Gate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743200" y="40233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→ sẵn sàng upload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772400" y="402336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1'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Tổng: ~27 phút — bạn chỉ cần nhập concept + duyệt plan!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Agent tự phân loại &amp; hành động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822960"/>
            <a:ext cx="73152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731520" y="8229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560320" y="8229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&lt;100K, ACOS &lt;30%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8229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SCALE (budget +30%)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737360"/>
            <a:ext cx="73152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1"/>
          <p:cNvSpPr/>
          <p:nvPr/>
        </p:nvSpPr>
        <p:spPr>
          <a:xfrm>
            <a:off x="731520" y="1737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560320" y="17373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100K-300K, ACOS 30-50%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17373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IMPROVE (keyword harvest)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6517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651760"/>
            <a:ext cx="73152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9" name="Text 16"/>
          <p:cNvSpPr/>
          <p:nvPr/>
        </p:nvSpPr>
        <p:spPr>
          <a:xfrm>
            <a:off x="731520" y="26517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560320" y="2651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300K-1M, ACOS 50-80%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ITERATE (fix listing/cover)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7200" y="3566160"/>
            <a:ext cx="73152" cy="7315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1"/>
          <p:cNvSpPr/>
          <p:nvPr/>
        </p:nvSpPr>
        <p:spPr>
          <a:xfrm>
            <a:off x="731520" y="35661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2560320" y="35661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&gt;1M, ACOS &gt;80%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943600" y="35661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KILL (pause ads)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Analyst chạy weekly → CEO auto-dispatch actions → không cần can thiệp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Listing = SEO của sách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13716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tốt = sách tự lên top khi search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dở = chôn vùi trong 6 triệu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đổi sau publish OK — nhưng chậm reindex (3-7 ngày)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0"/>
          <p:cNvSpPr/>
          <p:nvPr/>
        </p:nvSpPr>
        <p:spPr>
          <a:xfrm>
            <a:off x="45720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14884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14884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6" name="Text 13"/>
          <p:cNvSpPr/>
          <p:nvPr/>
        </p:nvSpPr>
        <p:spPr>
          <a:xfrm>
            <a:off x="214884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84048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84048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9" name="Text 16"/>
          <p:cNvSpPr/>
          <p:nvPr/>
        </p:nvSpPr>
        <p:spPr>
          <a:xfrm>
            <a:off x="384048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53212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53212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19"/>
          <p:cNvSpPr/>
          <p:nvPr/>
        </p:nvSpPr>
        <p:spPr>
          <a:xfrm>
            <a:off x="553212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(7)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5" name="Text 22"/>
          <p:cNvSpPr/>
          <p:nvPr/>
        </p:nvSpPr>
        <p:spPr>
          <a:xfrm>
            <a:off x="722376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(2)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Title Strategy (200 char max)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[Main Keyword] [Modifier] [Audience] [Bonus Hook]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"Large Print Sudoku for Seniors: 60 Easy to Hard Puzzles with Solutions"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"Sudoku Book" (quá generic)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"Best Sudoku Ever for All Ages" (banned word "Best")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tắc: 2-3 main keyword chính, không spam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Title Keyword Research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→ keyword với volume + competition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autocomplete (free)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Cerebro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"Generate 20 long-tail KDP titles cho niche X"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Subtitle (200 char max)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— Bổ sung keyword không nhét vào title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nhưng NÊN có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bằng " - " hoặc ":"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Title: "Large Print Sudoku for Seniors"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Subtitle: "60 Easy to Hard Puzzles | Brain Games for Memory &amp; Focus"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Description (4000 char, HTML allowed)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0116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8653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&lt;h2&gt;Hook (1 sentence)&lt;/h2&gt;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&lt;p&gt;Problem statement (2-3 sentences)&lt;/p&gt;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&lt;h3&gt;What's Inside:&lt;/h3&gt;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&lt;ul&gt;&lt;li&gt;✓ Bullet 1&lt;/li&gt;&lt;li&gt;✓ Bullet 2&lt;/li&gt;&lt;/ul&gt;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&lt;h3&gt;Perfect Gift For:&lt;/h3&gt;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&lt;ul&gt;&lt;li&gt;★ Audience 1&lt;/li&gt;&lt;/ul&gt;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&lt;p&gt;Click "Buy Now" CTA&lt;/p&gt;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allowed: &lt;b&gt;, &lt;i&gt;, &lt;u&gt;, &lt;h2&gt;-&lt;h6&gt;, &lt;ul&gt;, &lt;ol&gt;, &lt;li&gt;, &lt;p&gt;, &lt;br&gt;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KHÔNG: &lt;img&gt;, &lt;a&gt;, &lt;div&gt;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Description Template (Adults Coloring)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32004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&lt;h2&gt;Relax. Color. Repeat.&lt;/h2&gt;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&lt;p&gt;Tired of stressful days? Need a creative escape?&lt;/p&gt;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&lt;h3&gt;What's Inside:&lt;/h3&gt;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60 unique designs from cozy cafés&lt;/li&gt;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Single-sided printing — no bleed-through&lt;/li&gt;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Premium 8.5×11 inch pages&lt;/li&gt;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&lt;h3&gt;Perfect Gift For:&lt;/h3&gt;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&lt;li&gt;★ Stressed adults seeking mindfulness&lt;/li&gt;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&lt;li&gt;★ Birthday &amp; holiday gifts&lt;/li&gt;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&lt;p&gt;&lt;b&gt;Click "Add to Cart" to start today!&lt;/b&gt;&lt;/p&gt;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 Backend Keywords (250 char each)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từ customer, chỉ Amazon search engine thấy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Text 6"/>
          <p:cNvSpPr/>
          <p:nvPr/>
        </p:nvSpPr>
        <p:spPr>
          <a:xfrm>
            <a:off x="640080" y="11887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relaxing coloring book gift idea adults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6459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mindfulness art therapy stress relief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Text 10"/>
          <p:cNvSpPr/>
          <p:nvPr/>
        </p:nvSpPr>
        <p:spPr>
          <a:xfrm>
            <a:off x="640080" y="21031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creative hobby for women men birthday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4" name="Text 12"/>
          <p:cNvSpPr/>
          <p:nvPr/>
        </p:nvSpPr>
        <p:spPr>
          <a:xfrm>
            <a:off x="640080" y="25603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cozy aesthetic kawaii cute designs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Text 14"/>
          <p:cNvSpPr/>
          <p:nvPr/>
        </p:nvSpPr>
        <p:spPr>
          <a:xfrm>
            <a:off x="640080" y="30175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single sided no bleed through pages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8" name="Text 16"/>
          <p:cNvSpPr/>
          <p:nvPr/>
        </p:nvSpPr>
        <p:spPr>
          <a:xfrm>
            <a:off x="640080" y="34747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handmade self care wellness journal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Text 18"/>
          <p:cNvSpPr/>
          <p:nvPr/>
        </p:nvSpPr>
        <p:spPr>
          <a:xfrm>
            <a:off x="640080" y="39319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gifts for her him teen mom dad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ô = 7 góc nhìn khác nhau (audience, occasion, style, format, gift, use case, demographic)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Keyword Research cho Backend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→ AMS Keywords tab (best)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Magnet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ASIN top competitors (Helium 10 Cerebro)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Auto-Complete → "coloring book ___" + "___ coloring book"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lặp keyword đã có trong title/subtitle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lặp giữa 7 ô — mỗi ô là unique</a:t>
            </a:r>
            <a:endParaRPr lang="en-US" sz="13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Categories (Chọn 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 Category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cho phép 2 BISAC categories khi upload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thể request thêm 8 sub-categories qua KDP Help (sau publish)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lược: chọn category YẾU (top 1 BSR cao) → dễ dethrone</a:t>
            </a:r>
            <a:endParaRPr lang="en-US" sz="11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Category Hunting Strategy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xuống sub-category cụ thể trên Amazon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BSR của top 1, top 5, top 10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 BSR &gt; 50,000 → category yếu → VÀO DỄ 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 BSR &lt; 5,000 → category mạnh → TRÁNH ❌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Pricing Strategy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0" y="9144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$6.99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754880" y="9144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Low, tăng review velocity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8288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731520" y="18288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2-4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743200" y="18288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$7.99-8.99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754880" y="18288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elasticity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74320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9" name="Text 16"/>
          <p:cNvSpPr/>
          <p:nvPr/>
        </p:nvSpPr>
        <p:spPr>
          <a:xfrm>
            <a:off x="731520" y="27432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25+ reviews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43200" y="27432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$9.99-12.99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754880" y="27432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margin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$4.99-5.99: royalty quá thấp với printing cost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Reading Age &amp; Audience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đúng audience → Amazon recommend đúng người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coloring: 18+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Kids: chọn age range (3-5, 6-8, 9-12)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Seniors: dùng "Adults" nhưng keyword nhấn "seniors", "large print"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Upload — Roadmap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7772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kdp.amazon.com → Bookshelf → "+ Create" → "Paperback"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0" name="Text 7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1: Details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Author, Keywords, Categories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2: Content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47472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ISBN, Print options, Upload PDF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8" name="Text 15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3: Pricing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35508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Royalty, Territories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1: Paperback Details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English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Title (200 char) — paste từ plan.json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(200 char) — optional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First Name + Last Name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(4000 char HTML)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Rights: "I own the copyright"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Keywords: 7 ô (250 char mỗi ô)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2 (chọn từ list KDP)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Content: No (cho coloring)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2: Paperback Content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ISBN: chọn "Get a free KDP ISBN" (free)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Ink: Black &amp; White (low-content)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White hoặc Cream (white phổ biến)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Size: 8.5×11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Bleed: "Bleed (PDF only)" nếu hình tràn lề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Finish: Matte (đẹp tay) hoặc Glossy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interior.pdf + cover.pdf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"Launch Previewer" → review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Previewer (Quan trọng!)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web miễn phí của KDP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PDF như sách thật — kiểm tra trước submit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mọi page render đúng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margins OK, không bị cắt chữ/hình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cover wrap match với interior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spine text (nếu ≥ 79 trang)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thể flag warning → fix trước submit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3: Rights &amp; Pricing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Territories: All Territories (default)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Marketplace: Amazon.com (US chính)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Price: $9.99 (ví dụ)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 Plan: 60% (default cho paperback)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 rates cho UK, DE, FR...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Distribution: ✅ TICK (bonus reach 30%)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"Publish Your Paperback"</a:t>
            </a:r>
            <a:endParaRPr lang="en-US" sz="13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Sau khi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24-72h chờ Amazon review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đã lên Amazon!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Required ⚠️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46888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fix — xem email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24612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Nghiêm trọng — phải fix &amp; resubmit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bình: 24-48h (ngày thường), 72h (cuối tuần)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Common First-Submit Issues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0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text too small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Tăng font hoặc remove (&lt; 79p)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size mismatch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Re-export PDF đúng 8.5×11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DPI too low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Re-render images at 300 DPI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mismatch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cover = title listing exact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Banned keyword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"Best", "Free", brand names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→ Resubmit → review lại 24-72h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Author Central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author.amazon.com — Setup song song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sách của bạn (link tài khoản)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photo, bio, social links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page giúp customer tìm sách khác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5 phút setup</a:t>
            </a:r>
            <a:endParaRPr lang="en-US" sz="13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Tổng kết Day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anatomy 1 sách KDP (Interior + Cover + Listing)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 production toolkit sẵn sàng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Demo end-to-end 1 sách 35 phút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Listing SEO mastery — 5 thành phần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Upload submitted → đợi review 24-72h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Homework Day 2 → Day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Submit sách lên KDP TRƯỚC 9PM tối nay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Capture screenshot status "In Review"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Set up Amazon Author Central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Prepare Ads budget ($30-50 tối thiểu cho ngày 3)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Đăng ký Amazon Ads account (advertising.amazon.com)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Review sách 3 đối thủ top niche → note pricing/listing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Ngủ trước 10PM!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F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Q&amp;A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Câu hỏi nào cũng OK — đặc biệt câu 'ngu ngơ'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mic 5 phút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Shape 1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4" name="Text 2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LAUNCH, ADS &amp; SCALE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"Books don't sell themselves. Systems do."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1 sách đến hệ thống tự động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7"/>
          <p:cNvSpPr/>
          <p:nvPr/>
        </p:nvSpPr>
        <p:spPr>
          <a:xfrm>
            <a:off x="548640" y="46405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2 Recap + Homework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Quiz: ai có sách "Live" rồi? Ai vẫn "In Review"?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debug 2-3 case bị reject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3 sách "Live" của học viên (celebration!)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3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7" name="Table 0"/>
          <p:cNvGraphicFramePr>
            <a:graphicFrameLocks noGrp="1"/>
          </p:cNvGraphicFramePr>
          <p:nvPr/>
        </p:nvGraphicFramePr>
        <p:xfrm>
          <a:off x="457200" y="868680"/>
          <a:ext cx="8229600" cy="3072384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0:00-0:05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0:05-0:20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Strategy 30 ngày đầu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0:20-1:00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Ads Deep Dive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1:00-1:20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Demo: 3 Campaign cho 1 sách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1:20-1:35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Tracking &amp; Iteration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1:35-1:50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System theo 3 Tier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1:50-2:00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21-Day Roadmap + Closing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Tại sao 30 ngày đầu QUAN TRỌNG?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có "honeymoon period" 30 ngày đầu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velocity 30 ngày đầu = signal cho Amazon algorithm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thiết lập trong 30 ngày → giữ ranking 6-12 tháng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bê 30 ngày → BSR rớt → rất khó cứu lại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 Goal Framework — 3 Tiers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Bootstrap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$50-200/m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sales/sách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200K-500K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reviews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5" name="Text 13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Standard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$300-1000/m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7472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30-100 sales/sách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50K-200K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reviews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2" name="Text 20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Pro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$2000+/m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35508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sales/sách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 50K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reviews</a:t>
            </a:r>
            <a:endParaRPr lang="en-US" sz="11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Get First Reviews (Legitimate)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5603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Cách hợp lệ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friends (max 5)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(Advance Review Copy)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Vine Voices ($200)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 group "ARC reader for KDP"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5603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KHÔNG BAO GIỜ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reviews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swap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accounts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Incentivized reviews → BAN</a:t>
            </a:r>
            <a:endParaRPr lang="en-US" sz="11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Author Page Optimization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professional — tạo trust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200-400 từ — tell your story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social: blog, Instagram, Facebook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"Follow" button → xây dựng fan base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more sách = author authority tăng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A+ Content (KDP miễn phí)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marketing trong listing — tăng conversion 10-20%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module: comparison chart, product highlights, image carousel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KDP → Marketing → A+ Content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free trên Canva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Giúp listing nổi bật hơn đối thủ</a:t>
            </a:r>
            <a:endParaRPr lang="en-US" sz="11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Pricing Strategy 30 Ngày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5486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1-7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914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$6.99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03520" y="9144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velocity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72768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10"/>
          <p:cNvSpPr/>
          <p:nvPr/>
        </p:nvSpPr>
        <p:spPr>
          <a:xfrm>
            <a:off x="457200" y="1572768"/>
            <a:ext cx="54864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1"/>
          <p:cNvSpPr/>
          <p:nvPr/>
        </p:nvSpPr>
        <p:spPr>
          <a:xfrm>
            <a:off x="731520" y="15727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8-14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572768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$7.99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03520" y="1572768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31136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7" name="Shape 15"/>
          <p:cNvSpPr/>
          <p:nvPr/>
        </p:nvSpPr>
        <p:spPr>
          <a:xfrm>
            <a:off x="457200" y="2231136"/>
            <a:ext cx="54864" cy="5486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8" name="Text 16"/>
          <p:cNvSpPr/>
          <p:nvPr/>
        </p:nvSpPr>
        <p:spPr>
          <a:xfrm>
            <a:off x="731520" y="2231136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15-21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231136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$8.99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03520" y="2231136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check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889504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2" name="Shape 20"/>
          <p:cNvSpPr/>
          <p:nvPr/>
        </p:nvSpPr>
        <p:spPr>
          <a:xfrm>
            <a:off x="457200" y="2889504"/>
            <a:ext cx="54864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3" name="Text 21"/>
          <p:cNvSpPr/>
          <p:nvPr/>
        </p:nvSpPr>
        <p:spPr>
          <a:xfrm>
            <a:off x="731520" y="2889504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22-30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2889504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$9.99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03520" y="2889504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547872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547872"/>
            <a:ext cx="54864" cy="5486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8" name="Text 26"/>
          <p:cNvSpPr/>
          <p:nvPr/>
        </p:nvSpPr>
        <p:spPr>
          <a:xfrm>
            <a:off x="731520" y="3547872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25+ reviews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54787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$10.99-12.99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03520" y="3547872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margin</a:t>
            </a:r>
            <a:endParaRPr lang="en-US" sz="11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Promotion: Kindle Countdown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áp dụng cho Kindle eBook (không paperback)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Giảm giá theo lịch trình → tạo urgency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→ Marketing → Kindle Countdown Deals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7 ngày: $0.99 → $1.99 → $2.99 → $3.99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được feature trên Amazon "Today's Deals"</a:t>
            </a:r>
            <a:endParaRPr lang="en-US" sz="11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Cross-Promotion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Cuối sách: "If you enjoyed this, check out..."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ASIN tới sách khác của bạn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series: 5-10 sách cùng niche → cross-sell tự nhiên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"Other books by this author" auto-show trên Author Central</a:t>
            </a:r>
            <a:endParaRPr lang="en-US" sz="14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Social Proof Building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Channels hiệu quả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Pinterest: 5 pins/tuần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book aesthetic photos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BookTok: video unboxing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2860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Skip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ads (đắt + low conversion)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influencer (ROI thấp cho KDP)</a:t>
            </a:r>
            <a:endParaRPr lang="en-US" sz="11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 Checklist (30 ngày đầu)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17" name="Table 0"/>
          <p:cNvGraphicFramePr>
            <a:graphicFrameLocks noGrp="1"/>
          </p:cNvGraphicFramePr>
          <p:nvPr/>
        </p:nvGraphicFramePr>
        <p:xfrm>
          <a:off x="457200" y="777240"/>
          <a:ext cx="8229600" cy="3822192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Sách live, pricing $6.99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Author Central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A+ 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family review (5 max)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3 Ads campaigns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check: BSR baseline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Ads optimization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 pricing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review → next book?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"Honeymoon" end → consolidate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Ads QUAN TRỌNG?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Ads + Newbie = sách BSR 5,000,000+ (invisible)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sách KDP top 1000 đang chạy Ads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typical: $1 spend → $2-4 royalty (ACOS 25-50%)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còn boost organic ranking (velocity signal)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Sponsored Products (SP)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Products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Keyword-based, click-to-product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9144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 START HERE 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82880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1"/>
          <p:cNvSpPr/>
          <p:nvPr/>
        </p:nvSpPr>
        <p:spPr>
          <a:xfrm>
            <a:off x="731520" y="18288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Brands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trên search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18288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≥ 3 sách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432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8" name="Text 16"/>
          <p:cNvSpPr/>
          <p:nvPr/>
        </p:nvSpPr>
        <p:spPr>
          <a:xfrm>
            <a:off x="731520" y="27432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Display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0" y="27432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chỉ focus Sponsored Products (SP)</a:t>
            </a:r>
            <a:endParaRPr lang="en-US" sz="13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Campaign Types — Setup chuẩn cho 1 sách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Auto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tự match keyword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$5/ngày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33756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2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Manual Exact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chính xác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SCALE WINNERS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$10/ngày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8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Manual Broad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0936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variations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DISCOVER MORE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$5/ngày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CẢ 3 song song từ đầu</a:t>
            </a:r>
            <a:endParaRPr lang="en-US" sz="13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 Math 101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CPC = (Royalty × Target ACOS) / Conversion Rate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Royalty            = $3.69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ACOS        = 30%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Conversion Rate    = 10% (typical KDP)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CPC = ($3.69 × 0.30) / 0.10 = $1.10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khởi đầu: 50% của Max CPC = $0.55</a:t>
            </a:r>
            <a:endParaRPr lang="en-US" sz="1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ACOS là gì? (Advertising Cost of Sales)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225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ACOS = Ad Spend / Ad Revenue × 100%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dụ: spend $10 → $40 sales → ACOS = 25%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Break-even ACOS = Royalty / Price × 100%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$3.69 / $9.99 = 37%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ACOS &lt; break-even = PROFIT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newbie: 30-40% ACOS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Keyword Research cho Ads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AMS Keywords (best)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Cerebro (reverse ASIN)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search bar autocomplete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search terms reports (sau 7 ngày chạy Ads)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sách: collect 50-100 keyword → split: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keyword cho Exact campaign (high relevance)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keyword cho Broad campaign (variations)</a:t>
            </a:r>
            <a:endParaRPr lang="en-US" sz="13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Auto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[BookTitle]_AUTO_2026-04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$0.50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Manual Exact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[BookTitle]_EXACT_2026-04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→ Keyword → Exact (30 keywords)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$0.55 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Manual Broad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[BookTitle]_BROAD_2026-04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→ Keyword → Broad (20 keywords)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$0.40 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 Keywords (CỰC quan trọng)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Tiết kiệm 20-30% spend wasteful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keyword = keyword KHÔNG muốn ads hiện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sách "Sudoku Seniors" → negative: "kids", "puzzle for children"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khi tạo campaign + add liên tục từ search term reports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search terms mỗi 7-14 ngày để thêm negatives</a:t>
            </a:r>
            <a:endParaRPr lang="en-US" sz="11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Optimization Cycle (7-14 ngày 1 lần)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sales =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91440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Negative keyword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&lt; 30%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Promote → Exact, tăng bid 20%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30-50%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Watch, no change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&gt; 50%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324612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Giảm bid 20%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"Search Term Report" → Sort by Spend → Apply → Wait 7-14 ngày → Lặp lại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Daily Pacing &amp; Budget Control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1 lần/ngày sáng (5AM Club!)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campaign nếu spend &gt; 2× revenue trong 7 ngày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budget 20% cho campaign ACOS &lt; 25%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tăng bid quá nhanh — Amazon punishes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Daily Spend, Daily Sales, ACOS rolling 7d</a:t>
            </a:r>
            <a:endParaRPr lang="en-US" sz="1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 Common Ads Mistakes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2296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8229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quá thấp → ads không show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37160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57200" y="13716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3716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quá cao → ACOS 80%+ → chảy máu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192024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457200" y="192024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19202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add negative keywords → wasted spend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46888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457200" y="246888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246888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quá nhanh (chưa đủ 14 ngày data)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01752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457200" y="30175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01752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track theo cohort (mới vs cũ)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56616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457200" y="3566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35661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hàng ngày → noise &gt; signal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1" name="Shape 29"/>
          <p:cNvSpPr/>
          <p:nvPr/>
        </p:nvSpPr>
        <p:spPr>
          <a:xfrm>
            <a:off x="457200" y="411480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2" name="Text 30"/>
          <p:cNvSpPr/>
          <p:nvPr/>
        </p:nvSpPr>
        <p:spPr>
          <a:xfrm>
            <a:off x="457200" y="41148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0120" y="41148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Auto sau 30 ngày (vẫn cần discover keyword mới)</a:t>
            </a:r>
            <a:endParaRPr lang="en-US" sz="11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Ads Tools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1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2004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Ghi chú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Ads dashboard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Đủ cho newbie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Helium 10 ADS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AdBadger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KDPBot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AI-driven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Newbie: dùng KDP Ads dashboard 3 tháng đầu, đủ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Khi nào KILL Campaign?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nếu sau 30 ngày + $50 spend: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6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731520" y="128016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 &gt; 80% → KILL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731520" y="192024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sales → KILL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4" name="Shape 12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5" name="Text 13"/>
          <p:cNvSpPr/>
          <p:nvPr/>
        </p:nvSpPr>
        <p:spPr>
          <a:xfrm>
            <a:off x="731520" y="256032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không cải thiện sau $30+ spend → KILL book strategy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= pause + remove underperformers, KHÔNG delete campaign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3 Campaign Live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$3.34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41%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ACOS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6344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$0.50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bid</a:t>
            </a:r>
            <a:endParaRPr lang="en-US" sz="1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1 — Auto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LP_Sudoku_Seniors_AUTO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2 — Manual Exact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LP_Sudoku_Seniors_EXACT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exact keywords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3 — Manual Broad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LP_Sudoku_Seniors_BROAD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broad keywords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Total Ads Setup Recap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active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 ngày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check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sales (30% ACOS): ~$2,000/month royalty target</a:t>
            </a:r>
            <a:endParaRPr lang="en-US" sz="16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KPIs cần track hàng tuần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8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Tốt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bình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Xấu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100K-500K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Sales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Reviews/tuần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&gt;0.5%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0.2-0.5%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&lt;0.2%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Book Classification (4 Buckets)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6868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731520" y="86868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Winner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86868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&lt;100K, ACOS &lt;30%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26480" y="8686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SCALE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1"/>
          <p:cNvSpPr/>
          <p:nvPr/>
        </p:nvSpPr>
        <p:spPr>
          <a:xfrm>
            <a:off x="731520" y="173736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Promising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17373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100K-300K, ACOS 30-50%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1737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IMPROVE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06040"/>
            <a:ext cx="54864" cy="7315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6"/>
          <p:cNvSpPr/>
          <p:nvPr/>
        </p:nvSpPr>
        <p:spPr>
          <a:xfrm>
            <a:off x="731520" y="26060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Stuck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260604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300K-1M, ACOS 50-80%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260604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474720"/>
            <a:ext cx="54864" cy="7315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3" name="Text 21"/>
          <p:cNvSpPr/>
          <p:nvPr/>
        </p:nvSpPr>
        <p:spPr>
          <a:xfrm>
            <a:off x="731520" y="347472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Dead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43200" y="347472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&gt;1M, ACOS &gt;80%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347472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KILL ads</a:t>
            </a:r>
            <a:endParaRPr lang="en-US" sz="13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Iteration Playbook (Stuck Book)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refresh (A/B test) → 30% case fix bằng cover mới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tweak (thêm keyword)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rewrite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test ($6.99 vs $9.99)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Re-categorize (request KDP move category)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30 ngày sau iteration → reassess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Tracking Sheet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41" name="Table 0"/>
          <p:cNvGraphicFramePr>
            <a:graphicFrameLocks noGrp="1"/>
          </p:cNvGraphicFramePr>
          <p:nvPr/>
        </p:nvGraphicFramePr>
        <p:xfrm>
          <a:off x="274320" y="868680"/>
          <a:ext cx="8595360" cy="13716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731520"/>
                <a:gridCol w="822960"/>
                <a:gridCol w="731520"/>
                <a:gridCol w="822960"/>
                <a:gridCol w="731520"/>
                <a:gridCol w="914400"/>
                <a:gridCol w="11887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B0XXX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B0YYY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15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A/B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Google Sheet sẽ được share trong group</a:t>
            </a:r>
            <a:endParaRPr lang="en-US" sz="12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Weekly Review Routine (Chủ Nhật, 30 phút)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Check BSR all books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Update tracking sheet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Download Search Term Reports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Apply 1 optimization per book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Identify Winner → scale budget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Identify Dead → kill ads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Plan 1-2 new books cho tuần tới</a:t>
            </a:r>
            <a:endParaRPr lang="en-US" sz="13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Repo aws-kdp — Automation Tools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scripts/db.py royalties list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scripts/db.py ad_performance list --since 2026-04-01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 07: performance-analyst (auto classify)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/daily-brief — morning anomaly report (5AM Club!)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/weekly-cycle — Sunday performance review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Khi nào Quit một Book?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live + spend $50+ → vẫn không review nào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 2,000,000 sau khi iterate 2 lần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royalty &lt; spend × 0.5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= deprioritize, ĐỪNG unpublish (negative signal Amazon)</a:t>
            </a:r>
            <a:endParaRPr lang="en-US" sz="14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Winner Scale-up Playbook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Ads budget 50% mỗi tuần (max +200% tổng)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giá $1 → test elasticity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2-3 sách "spin-off" cùng niche (series)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Central feature this book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Re-categorize lên category mạnh hơn</a:t>
            </a:r>
            <a:endParaRPr lang="en-US" sz="14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Scale Roadmap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$50-200/m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063240" y="1554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3756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91440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2"/>
          <p:cNvSpPr/>
          <p:nvPr/>
        </p:nvSpPr>
        <p:spPr>
          <a:xfrm>
            <a:off x="333756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$300-1K/m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43600" y="1554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1792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91440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8"/>
          <p:cNvSpPr/>
          <p:nvPr/>
        </p:nvSpPr>
        <p:spPr>
          <a:xfrm>
            <a:off x="621792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$2K+/m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21 ngày: đạt Tier 1 với 100 sách → $100-500/tháng, nền tảng scale tiếp</a:t>
            </a:r>
            <a:endParaRPr lang="en-US" sz="13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1: BOOTSTRAP ($50-200/m)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Solo, side hustle, 5-10h/tuần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5-10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Free AI + Canva Free + KDP Ads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tools: $0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$5-10/ngày × 3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$450-900/tháng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6 tháng: $500-1500/m passive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time-bound (1 người)</a:t>
            </a:r>
            <a:endParaRPr lang="en-US" sz="11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2: STANDARD ($300-1000/m)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publisher, 15-25h/tuần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10-30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+ KDSPY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Pro + Midjourney + Helium 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926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$20-30/ngày × 5 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$80-150/m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12 tháng: $5K-15K/m passive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Bottleneck: production speed</a:t>
            </a:r>
            <a:endParaRPr lang="en-US" sz="11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3: PRO ($2000+/m)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32004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Full-time KDP business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50-100+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InDesign + Custom AI pipeline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team (2-5 người)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Multi-pen-name strategy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32004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$100-300/ngày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VA: $1500-3500/m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24 tháng: $30K-100K+/m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account ban, cần CPA</a:t>
            </a:r>
            <a:endParaRPr lang="en-US" sz="11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Pen Name Strategy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KDP account = nhiều pen names UNLIMITED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niche → 1 pen name riêng (branding clarity)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VD: BoBo Brain (sudoku), CozyCat Studio (coloring), MindfulMom (journals)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KDP → Account → Add Author Profile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= multi-account (vẫn 1 KDP, 1 tax)</a:t>
            </a:r>
            <a:endParaRPr lang="en-US" sz="11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Series Strategy (Force Multiplier)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Winner → spin-off 5-10 sách cùng niche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VD: "Sudoku for Seniors Vol 1" → Vol 2, 3 → Christmas → Travel edition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sách cross-sell tự nhiên qua Amazon recommend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winner niche = $2,000-5,000/tháng (cộng dồn 10 sách)</a:t>
            </a:r>
            <a:endParaRPr lang="en-US" sz="14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 Hiring Playbook (Tier 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cho VA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generation (theo prompt template)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 (theo template)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draft (theo SEO checklist)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upload + Daily Ads 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743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OnlineJobs.ph ($300-600/m PH VA)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Upwork ($5-15/h)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bằng SOP video (Loom)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5-10 sách/tuần/VA</a:t>
            </a:r>
            <a:endParaRPr lang="en-US" sz="11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Multi-account WARNING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cấm multi-account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người = 1 account (theo person + tax + payment)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 UNLIMITED trong 1 account → dùng thay multi-account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"Family member account" = grey zone, RISKY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ban toàn bộ + freeze royalty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3: cứ scale trong 1 account</a:t>
            </a:r>
            <a:endParaRPr lang="en-US" sz="11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Sau khóa học, làm gì?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13232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1-3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560320" y="914400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3 ngày + sách đầu tiên LIVE trên KDP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755648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755648"/>
            <a:ext cx="54864" cy="71323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731520" y="1755648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4-7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60320" y="1755648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10 sách với Agent System + launch ads cho sách 1-3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596896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2596896"/>
            <a:ext cx="54864" cy="713232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7" name="Text 14"/>
          <p:cNvSpPr/>
          <p:nvPr/>
        </p:nvSpPr>
        <p:spPr>
          <a:xfrm>
            <a:off x="731520" y="2596896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8-14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596896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sách total + optimize ads + tìm Winner đầu tiên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438144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3438144"/>
            <a:ext cx="54864" cy="71323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731520" y="3438144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15-21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560320" y="3438144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sách + series strategy + target $100-500/tháng</a:t>
            </a:r>
            <a:endParaRPr lang="en-US" sz="11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21-Day Milestones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55" name="Table 0"/>
          <p:cNvGraphicFramePr>
            <a:graphicFrameLocks noGrp="1"/>
          </p:cNvGraphicFramePr>
          <p:nvPr/>
        </p:nvGraphicFramePr>
        <p:xfrm>
          <a:off x="457200" y="868680"/>
          <a:ext cx="8229600" cy="25146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2743200"/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Ngày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Sách total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target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(thủ công)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 — learning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(Agent batch)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 — ads warming up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40-60 (Agent + batch)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$20-50/tháng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$100-500/tháng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sách trong 21 ngày = nền tảng passive income vững chắc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Common Pitfalls Tránh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731520" y="8229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Perfectionism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Chờ sách "hoàn hảo" → 0 sách trong 21 ngày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4173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731520" y="14173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jumping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41732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niche mỗi tuần → không có series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01168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731520" y="20116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bỏ bê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0" y="20116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ngày không optimize → BSR rớt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6060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731520" y="2606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homework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260604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khóa nhưng không apply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2004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Ngại đầu tư tool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320040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$199 ROI trong 1 sách Winner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7947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731520" y="3794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người khác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79476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YOUR pipeline</a:t>
            </a:r>
            <a:endParaRPr lang="en-US" sz="11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Resources &amp; Communities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Help Center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/r/KDP subreddit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Self-Publishing School (YouTube)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Dale Roberts (YouTube — best free)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743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Community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Telegram khóa học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1-on-1 coaching cohort 2026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hours: Chủ Nhật 5AM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slide hàng quý</a:t>
            </a:r>
            <a:endParaRPr lang="en-US" sz="11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Repo aws-kdp — Your Toolkit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21396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scripts/plan_book.py     — auto plan với Claude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scripts/generate_images.py — multi-renderer pipeline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scripts/build_pdf.py     — KDP-compliant interior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scripts/generate_cover.py — full wrap cover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scripts/pdf_qc.py        — pre-flight validator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/kdp-create-book  — agent orchestrator end-to-end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/daily-brief      — morning report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/weekly-cycle     — Sunday optimization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access free, fork về máy, customize</a:t>
            </a:r>
            <a:endParaRPr lang="en-US" sz="13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Hỗ trợ sau khóa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Telegram/Zalo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sprint + hỗ trợ sau khóa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1h/tuần (Chủ Nhật 5AM) trong 21 ngày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1-on-1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46888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lần/học viên trong 21 ngày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slides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24612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quý (KDP rules thay đổi)</a:t>
            </a:r>
            <a:endParaRPr lang="en-US" sz="12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"The best time to publish your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first book was a year ago.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second best time is TODAY."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đầu từ 5AM ngày mai.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CẢM ƠN!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ngày cùng nhau — bây giờ là lúc ACTION!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2926080"/>
            <a:ext cx="27432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Group: Telegram KDP 5AM Club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cohort: Coming soon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#KDP5AMClub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39367</Words>
  <Application>WPS Presentation</Application>
  <PresentationFormat>On-screen Show (16:9)</PresentationFormat>
  <Paragraphs>3498</Paragraphs>
  <Slides>160</Slides>
  <Notes>160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160</vt:i4>
      </vt:variant>
    </vt:vector>
  </HeadingPairs>
  <TitlesOfParts>
    <vt:vector size="184" baseType="lpstr">
      <vt:lpstr>Arial</vt:lpstr>
      <vt:lpstr>SimSun</vt:lpstr>
      <vt:lpstr>Wingdings</vt:lpstr>
      <vt:lpstr>Arial Black</vt:lpstr>
      <vt:lpstr>Arial Black</vt:lpstr>
      <vt:lpstr>Arial Black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Consolas</vt:lpstr>
      <vt:lpstr>Consolas</vt:lpstr>
      <vt:lpstr>Consolas</vt:lpstr>
      <vt:lpstr>Microsoft YaHei</vt:lpstr>
      <vt:lpstr>汉仪旗黑</vt:lpstr>
      <vt:lpstr>Arial Unicode MS</vt:lpstr>
      <vt:lpstr>宋体-简</vt:lpstr>
      <vt:lpstr>Apple Color Emoji</vt:lpstr>
      <vt:lpstr>苹方-简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KDP 5AM CLUB — 3 Ngày Huấn Luyện Chuyên Sâu</dc:title>
  <dc:creator>Tony Trieu</dc:creator>
  <dc:subject>PptxGenJS Presentation</dc:subject>
  <cp:lastModifiedBy>tonytrieu</cp:lastModifiedBy>
  <cp:revision>3</cp:revision>
  <dcterms:created xsi:type="dcterms:W3CDTF">2026-04-29T15:18:17Z</dcterms:created>
  <dcterms:modified xsi:type="dcterms:W3CDTF">2026-04-29T15:18:17Z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235E4D6043D35DD62E21F26958E0ECD2_42</vt:lpwstr>
  </property>
  <property fmtid="{D5CDD505-2E9C-101B-9397-08002B2CF9AE}" pid="3" name="KSOProductBuildVer">
    <vt:lpwstr>1033-12.1.25867.25867</vt:lpwstr>
  </property>
</Properties>
</file>