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9" Type="http://schemas.openxmlformats.org/officeDocument/2006/relationships/slide" Target="slides/slide96.xml"/><Relationship Id="rId98" Type="http://schemas.openxmlformats.org/officeDocument/2006/relationships/slide" Target="slides/slide95.xml"/><Relationship Id="rId97" Type="http://schemas.openxmlformats.org/officeDocument/2006/relationships/slide" Target="slides/slide94.xml"/><Relationship Id="rId96" Type="http://schemas.openxmlformats.org/officeDocument/2006/relationships/slide" Target="slides/slide93.xml"/><Relationship Id="rId95" Type="http://schemas.openxmlformats.org/officeDocument/2006/relationships/slide" Target="slides/slide92.xml"/><Relationship Id="rId94" Type="http://schemas.openxmlformats.org/officeDocument/2006/relationships/slide" Target="slides/slide91.xml"/><Relationship Id="rId93" Type="http://schemas.openxmlformats.org/officeDocument/2006/relationships/slide" Target="slides/slide90.xml"/><Relationship Id="rId92" Type="http://schemas.openxmlformats.org/officeDocument/2006/relationships/slide" Target="slides/slide89.xml"/><Relationship Id="rId91" Type="http://schemas.openxmlformats.org/officeDocument/2006/relationships/slide" Target="slides/slide88.xml"/><Relationship Id="rId90" Type="http://schemas.openxmlformats.org/officeDocument/2006/relationships/slide" Target="slides/slide87.xml"/><Relationship Id="rId9" Type="http://schemas.openxmlformats.org/officeDocument/2006/relationships/slide" Target="slides/slide6.xml"/><Relationship Id="rId89" Type="http://schemas.openxmlformats.org/officeDocument/2006/relationships/slide" Target="slides/slide86.xml"/><Relationship Id="rId88" Type="http://schemas.openxmlformats.org/officeDocument/2006/relationships/slide" Target="slides/slide85.xml"/><Relationship Id="rId87" Type="http://schemas.openxmlformats.org/officeDocument/2006/relationships/slide" Target="slides/slide84.xml"/><Relationship Id="rId86" Type="http://schemas.openxmlformats.org/officeDocument/2006/relationships/slide" Target="slides/slide83.xml"/><Relationship Id="rId85" Type="http://schemas.openxmlformats.org/officeDocument/2006/relationships/slide" Target="slides/slide82.xml"/><Relationship Id="rId84" Type="http://schemas.openxmlformats.org/officeDocument/2006/relationships/slide" Target="slides/slide81.xml"/><Relationship Id="rId83" Type="http://schemas.openxmlformats.org/officeDocument/2006/relationships/slide" Target="slides/slide80.xml"/><Relationship Id="rId82" Type="http://schemas.openxmlformats.org/officeDocument/2006/relationships/slide" Target="slides/slide79.xml"/><Relationship Id="rId81" Type="http://schemas.openxmlformats.org/officeDocument/2006/relationships/slide" Target="slides/slide78.xml"/><Relationship Id="rId80" Type="http://schemas.openxmlformats.org/officeDocument/2006/relationships/slide" Target="slides/slide77.xml"/><Relationship Id="rId8" Type="http://schemas.openxmlformats.org/officeDocument/2006/relationships/slide" Target="slides/slide5.xml"/><Relationship Id="rId79" Type="http://schemas.openxmlformats.org/officeDocument/2006/relationships/slide" Target="slides/slide76.xml"/><Relationship Id="rId78" Type="http://schemas.openxmlformats.org/officeDocument/2006/relationships/slide" Target="slides/slide75.xml"/><Relationship Id="rId77" Type="http://schemas.openxmlformats.org/officeDocument/2006/relationships/slide" Target="slides/slide74.xml"/><Relationship Id="rId76" Type="http://schemas.openxmlformats.org/officeDocument/2006/relationships/slide" Target="slides/slide73.xml"/><Relationship Id="rId75" Type="http://schemas.openxmlformats.org/officeDocument/2006/relationships/slide" Target="slides/slide72.xml"/><Relationship Id="rId74" Type="http://schemas.openxmlformats.org/officeDocument/2006/relationships/slide" Target="slides/slide71.xml"/><Relationship Id="rId73" Type="http://schemas.openxmlformats.org/officeDocument/2006/relationships/slide" Target="slides/slide70.xml"/><Relationship Id="rId72" Type="http://schemas.openxmlformats.org/officeDocument/2006/relationships/slide" Target="slides/slide69.xml"/><Relationship Id="rId71" Type="http://schemas.openxmlformats.org/officeDocument/2006/relationships/slide" Target="slides/slide68.xml"/><Relationship Id="rId70" Type="http://schemas.openxmlformats.org/officeDocument/2006/relationships/slide" Target="slides/slide67.xml"/><Relationship Id="rId7" Type="http://schemas.openxmlformats.org/officeDocument/2006/relationships/slide" Target="slides/slide4.xml"/><Relationship Id="rId69" Type="http://schemas.openxmlformats.org/officeDocument/2006/relationships/slide" Target="slides/slide66.xml"/><Relationship Id="rId68" Type="http://schemas.openxmlformats.org/officeDocument/2006/relationships/slide" Target="slides/slide65.xml"/><Relationship Id="rId67" Type="http://schemas.openxmlformats.org/officeDocument/2006/relationships/slide" Target="slides/slide64.xml"/><Relationship Id="rId66" Type="http://schemas.openxmlformats.org/officeDocument/2006/relationships/slide" Target="slides/slide63.xml"/><Relationship Id="rId65" Type="http://schemas.openxmlformats.org/officeDocument/2006/relationships/slide" Target="slides/slide62.xml"/><Relationship Id="rId64" Type="http://schemas.openxmlformats.org/officeDocument/2006/relationships/slide" Target="slides/slide61.xml"/><Relationship Id="rId63" Type="http://schemas.openxmlformats.org/officeDocument/2006/relationships/slide" Target="slides/slide60.xml"/><Relationship Id="rId62" Type="http://schemas.openxmlformats.org/officeDocument/2006/relationships/slide" Target="slides/slide59.xml"/><Relationship Id="rId61" Type="http://schemas.openxmlformats.org/officeDocument/2006/relationships/slide" Target="slides/slide58.xml"/><Relationship Id="rId60" Type="http://schemas.openxmlformats.org/officeDocument/2006/relationships/slide" Target="slides/slide57.xml"/><Relationship Id="rId6" Type="http://schemas.openxmlformats.org/officeDocument/2006/relationships/slide" Target="slides/slide3.xml"/><Relationship Id="rId59" Type="http://schemas.openxmlformats.org/officeDocument/2006/relationships/slide" Target="slides/slide56.xml"/><Relationship Id="rId58" Type="http://schemas.openxmlformats.org/officeDocument/2006/relationships/slide" Target="slides/slide55.xml"/><Relationship Id="rId57" Type="http://schemas.openxmlformats.org/officeDocument/2006/relationships/slide" Target="slides/slide54.xml"/><Relationship Id="rId56" Type="http://schemas.openxmlformats.org/officeDocument/2006/relationships/slide" Target="slides/slide53.xml"/><Relationship Id="rId55" Type="http://schemas.openxmlformats.org/officeDocument/2006/relationships/slide" Target="slides/slide52.xml"/><Relationship Id="rId54" Type="http://schemas.openxmlformats.org/officeDocument/2006/relationships/slide" Target="slides/slide51.xml"/><Relationship Id="rId53" Type="http://schemas.openxmlformats.org/officeDocument/2006/relationships/slide" Target="slides/slide50.xml"/><Relationship Id="rId52" Type="http://schemas.openxmlformats.org/officeDocument/2006/relationships/slide" Target="slides/slide49.xml"/><Relationship Id="rId51" Type="http://schemas.openxmlformats.org/officeDocument/2006/relationships/slide" Target="slides/slide48.xml"/><Relationship Id="rId50" Type="http://schemas.openxmlformats.org/officeDocument/2006/relationships/slide" Target="slides/slide47.xml"/><Relationship Id="rId5" Type="http://schemas.openxmlformats.org/officeDocument/2006/relationships/slide" Target="slides/slide2.xml"/><Relationship Id="rId49" Type="http://schemas.openxmlformats.org/officeDocument/2006/relationships/slide" Target="slides/slide46.xml"/><Relationship Id="rId48" Type="http://schemas.openxmlformats.org/officeDocument/2006/relationships/slide" Target="slides/slide45.xml"/><Relationship Id="rId47" Type="http://schemas.openxmlformats.org/officeDocument/2006/relationships/slide" Target="slides/slide44.xml"/><Relationship Id="rId46" Type="http://schemas.openxmlformats.org/officeDocument/2006/relationships/slide" Target="slides/slide43.xml"/><Relationship Id="rId45" Type="http://schemas.openxmlformats.org/officeDocument/2006/relationships/slide" Target="slides/slide42.xml"/><Relationship Id="rId44" Type="http://schemas.openxmlformats.org/officeDocument/2006/relationships/slide" Target="slides/slide41.xml"/><Relationship Id="rId43" Type="http://schemas.openxmlformats.org/officeDocument/2006/relationships/slide" Target="slides/slide40.xml"/><Relationship Id="rId42" Type="http://schemas.openxmlformats.org/officeDocument/2006/relationships/slide" Target="slides/slide39.xml"/><Relationship Id="rId41" Type="http://schemas.openxmlformats.org/officeDocument/2006/relationships/slide" Target="slides/slide38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6" Type="http://schemas.openxmlformats.org/officeDocument/2006/relationships/tableStyles" Target="tableStyles.xml"/><Relationship Id="rId165" Type="http://schemas.openxmlformats.org/officeDocument/2006/relationships/viewProps" Target="viewProps.xml"/><Relationship Id="rId164" Type="http://schemas.openxmlformats.org/officeDocument/2006/relationships/presProps" Target="presProps.xml"/><Relationship Id="rId163" Type="http://schemas.openxmlformats.org/officeDocument/2006/relationships/slide" Target="slides/slide160.xml"/><Relationship Id="rId162" Type="http://schemas.openxmlformats.org/officeDocument/2006/relationships/slide" Target="slides/slide159.xml"/><Relationship Id="rId161" Type="http://schemas.openxmlformats.org/officeDocument/2006/relationships/slide" Target="slides/slide158.xml"/><Relationship Id="rId160" Type="http://schemas.openxmlformats.org/officeDocument/2006/relationships/slide" Target="slides/slide157.xml"/><Relationship Id="rId16" Type="http://schemas.openxmlformats.org/officeDocument/2006/relationships/slide" Target="slides/slide13.xml"/><Relationship Id="rId159" Type="http://schemas.openxmlformats.org/officeDocument/2006/relationships/slide" Target="slides/slide156.xml"/><Relationship Id="rId158" Type="http://schemas.openxmlformats.org/officeDocument/2006/relationships/slide" Target="slides/slide155.xml"/><Relationship Id="rId157" Type="http://schemas.openxmlformats.org/officeDocument/2006/relationships/slide" Target="slides/slide154.xml"/><Relationship Id="rId156" Type="http://schemas.openxmlformats.org/officeDocument/2006/relationships/slide" Target="slides/slide153.xml"/><Relationship Id="rId155" Type="http://schemas.openxmlformats.org/officeDocument/2006/relationships/slide" Target="slides/slide152.xml"/><Relationship Id="rId154" Type="http://schemas.openxmlformats.org/officeDocument/2006/relationships/slide" Target="slides/slide151.xml"/><Relationship Id="rId153" Type="http://schemas.openxmlformats.org/officeDocument/2006/relationships/slide" Target="slides/slide150.xml"/><Relationship Id="rId152" Type="http://schemas.openxmlformats.org/officeDocument/2006/relationships/slide" Target="slides/slide149.xml"/><Relationship Id="rId151" Type="http://schemas.openxmlformats.org/officeDocument/2006/relationships/slide" Target="slides/slide148.xml"/><Relationship Id="rId150" Type="http://schemas.openxmlformats.org/officeDocument/2006/relationships/slide" Target="slides/slide147.xml"/><Relationship Id="rId15" Type="http://schemas.openxmlformats.org/officeDocument/2006/relationships/slide" Target="slides/slide12.xml"/><Relationship Id="rId149" Type="http://schemas.openxmlformats.org/officeDocument/2006/relationships/slide" Target="slides/slide146.xml"/><Relationship Id="rId148" Type="http://schemas.openxmlformats.org/officeDocument/2006/relationships/slide" Target="slides/slide145.xml"/><Relationship Id="rId147" Type="http://schemas.openxmlformats.org/officeDocument/2006/relationships/slide" Target="slides/slide144.xml"/><Relationship Id="rId146" Type="http://schemas.openxmlformats.org/officeDocument/2006/relationships/slide" Target="slides/slide143.xml"/><Relationship Id="rId145" Type="http://schemas.openxmlformats.org/officeDocument/2006/relationships/slide" Target="slides/slide142.xml"/><Relationship Id="rId144" Type="http://schemas.openxmlformats.org/officeDocument/2006/relationships/slide" Target="slides/slide141.xml"/><Relationship Id="rId143" Type="http://schemas.openxmlformats.org/officeDocument/2006/relationships/slide" Target="slides/slide140.xml"/><Relationship Id="rId142" Type="http://schemas.openxmlformats.org/officeDocument/2006/relationships/slide" Target="slides/slide139.xml"/><Relationship Id="rId141" Type="http://schemas.openxmlformats.org/officeDocument/2006/relationships/slide" Target="slides/slide138.xml"/><Relationship Id="rId140" Type="http://schemas.openxmlformats.org/officeDocument/2006/relationships/slide" Target="slides/slide137.xml"/><Relationship Id="rId14" Type="http://schemas.openxmlformats.org/officeDocument/2006/relationships/slide" Target="slides/slide11.xml"/><Relationship Id="rId139" Type="http://schemas.openxmlformats.org/officeDocument/2006/relationships/slide" Target="slides/slide136.xml"/><Relationship Id="rId138" Type="http://schemas.openxmlformats.org/officeDocument/2006/relationships/slide" Target="slides/slide135.xml"/><Relationship Id="rId137" Type="http://schemas.openxmlformats.org/officeDocument/2006/relationships/slide" Target="slides/slide134.xml"/><Relationship Id="rId136" Type="http://schemas.openxmlformats.org/officeDocument/2006/relationships/slide" Target="slides/slide133.xml"/><Relationship Id="rId135" Type="http://schemas.openxmlformats.org/officeDocument/2006/relationships/slide" Target="slides/slide132.xml"/><Relationship Id="rId134" Type="http://schemas.openxmlformats.org/officeDocument/2006/relationships/slide" Target="slides/slide131.xml"/><Relationship Id="rId133" Type="http://schemas.openxmlformats.org/officeDocument/2006/relationships/slide" Target="slides/slide130.xml"/><Relationship Id="rId132" Type="http://schemas.openxmlformats.org/officeDocument/2006/relationships/slide" Target="slides/slide129.xml"/><Relationship Id="rId131" Type="http://schemas.openxmlformats.org/officeDocument/2006/relationships/slide" Target="slides/slide128.xml"/><Relationship Id="rId130" Type="http://schemas.openxmlformats.org/officeDocument/2006/relationships/slide" Target="slides/slide127.xml"/><Relationship Id="rId13" Type="http://schemas.openxmlformats.org/officeDocument/2006/relationships/slide" Target="slides/slide10.xml"/><Relationship Id="rId129" Type="http://schemas.openxmlformats.org/officeDocument/2006/relationships/slide" Target="slides/slide126.xml"/><Relationship Id="rId128" Type="http://schemas.openxmlformats.org/officeDocument/2006/relationships/slide" Target="slides/slide125.xml"/><Relationship Id="rId127" Type="http://schemas.openxmlformats.org/officeDocument/2006/relationships/slide" Target="slides/slide124.xml"/><Relationship Id="rId126" Type="http://schemas.openxmlformats.org/officeDocument/2006/relationships/slide" Target="slides/slide123.xml"/><Relationship Id="rId125" Type="http://schemas.openxmlformats.org/officeDocument/2006/relationships/slide" Target="slides/slide122.xml"/><Relationship Id="rId124" Type="http://schemas.openxmlformats.org/officeDocument/2006/relationships/slide" Target="slides/slide121.xml"/><Relationship Id="rId123" Type="http://schemas.openxmlformats.org/officeDocument/2006/relationships/slide" Target="slides/slide120.xml"/><Relationship Id="rId122" Type="http://schemas.openxmlformats.org/officeDocument/2006/relationships/slide" Target="slides/slide119.xml"/><Relationship Id="rId121" Type="http://schemas.openxmlformats.org/officeDocument/2006/relationships/slide" Target="slides/slide118.xml"/><Relationship Id="rId120" Type="http://schemas.openxmlformats.org/officeDocument/2006/relationships/slide" Target="slides/slide117.xml"/><Relationship Id="rId12" Type="http://schemas.openxmlformats.org/officeDocument/2006/relationships/slide" Target="slides/slide9.xml"/><Relationship Id="rId119" Type="http://schemas.openxmlformats.org/officeDocument/2006/relationships/slide" Target="slides/slide116.xml"/><Relationship Id="rId118" Type="http://schemas.openxmlformats.org/officeDocument/2006/relationships/slide" Target="slides/slide115.xml"/><Relationship Id="rId117" Type="http://schemas.openxmlformats.org/officeDocument/2006/relationships/slide" Target="slides/slide114.xml"/><Relationship Id="rId116" Type="http://schemas.openxmlformats.org/officeDocument/2006/relationships/slide" Target="slides/slide113.xml"/><Relationship Id="rId115" Type="http://schemas.openxmlformats.org/officeDocument/2006/relationships/slide" Target="slides/slide112.xml"/><Relationship Id="rId114" Type="http://schemas.openxmlformats.org/officeDocument/2006/relationships/slide" Target="slides/slide111.xml"/><Relationship Id="rId113" Type="http://schemas.openxmlformats.org/officeDocument/2006/relationships/slide" Target="slides/slide110.xml"/><Relationship Id="rId112" Type="http://schemas.openxmlformats.org/officeDocument/2006/relationships/slide" Target="slides/slide109.xml"/><Relationship Id="rId111" Type="http://schemas.openxmlformats.org/officeDocument/2006/relationships/slide" Target="slides/slide108.xml"/><Relationship Id="rId110" Type="http://schemas.openxmlformats.org/officeDocument/2006/relationships/slide" Target="slides/slide107.xml"/><Relationship Id="rId11" Type="http://schemas.openxmlformats.org/officeDocument/2006/relationships/slide" Target="slides/slide8.xml"/><Relationship Id="rId109" Type="http://schemas.openxmlformats.org/officeDocument/2006/relationships/slide" Target="slides/slide106.xml"/><Relationship Id="rId108" Type="http://schemas.openxmlformats.org/officeDocument/2006/relationships/slide" Target="slides/slide105.xml"/><Relationship Id="rId107" Type="http://schemas.openxmlformats.org/officeDocument/2006/relationships/slide" Target="slides/slide104.xml"/><Relationship Id="rId106" Type="http://schemas.openxmlformats.org/officeDocument/2006/relationships/slide" Target="slides/slide103.xml"/><Relationship Id="rId105" Type="http://schemas.openxmlformats.org/officeDocument/2006/relationships/slide" Target="slides/slide102.xml"/><Relationship Id="rId104" Type="http://schemas.openxmlformats.org/officeDocument/2006/relationships/slide" Target="slides/slide101.xml"/><Relationship Id="rId103" Type="http://schemas.openxmlformats.org/officeDocument/2006/relationships/slide" Target="slides/slide100.xml"/><Relationship Id="rId102" Type="http://schemas.openxmlformats.org/officeDocument/2006/relationships/slide" Target="slides/slide99.xml"/><Relationship Id="rId101" Type="http://schemas.openxmlformats.org/officeDocument/2006/relationships/slide" Target="slides/slide98.xml"/><Relationship Id="rId100" Type="http://schemas.openxmlformats.org/officeDocument/2006/relationships/slide" Target="slides/slide97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8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9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0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2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3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4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5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6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7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8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9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0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2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3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4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5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6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7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8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9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0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2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3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4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5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6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7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8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9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0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2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3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4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5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6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7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8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9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0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2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3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4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5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6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7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8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9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0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2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3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4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5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6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7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8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9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0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2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3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4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5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6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7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8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9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0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2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3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4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5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6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7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8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9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0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2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3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4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5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6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7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8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9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0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2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3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4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5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6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7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8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9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0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2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3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4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5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6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7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8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9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0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2.xml"/></Relationships>
</file>

<file path=ppt/notesSlides/_rels/notesSlide15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3.xml"/></Relationships>
</file>

<file path=ppt/notesSlides/_rels/notesSlide15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4.xml"/></Relationships>
</file>

<file path=ppt/notesSlides/_rels/notesSlide15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5.xml"/></Relationships>
</file>

<file path=ppt/notesSlides/_rels/notesSlide15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6.xml"/></Relationships>
</file>

<file path=ppt/notesSlides/_rels/notesSlide15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7.xml"/></Relationships>
</file>

<file path=ppt/notesSlides/_rels/notesSlide15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8.xml"/></Relationships>
</file>

<file path=ppt/notesSlides/_rels/notesSlide15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9.xml"/></Relationships>
</file>

<file path=ppt/notesSlides/_rels/notesSlide16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5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6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7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2" Type="http://schemas.openxmlformats.org/officeDocument/2006/relationships/image" Target="../media/image17.png"/><Relationship Id="rId1" Type="http://schemas.openxmlformats.org/officeDocument/2006/relationships/image" Target="../media/image6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8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9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76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22.png"/><Relationship Id="rId3" Type="http://schemas.openxmlformats.org/officeDocument/2006/relationships/image" Target="../media/image18.png"/><Relationship Id="rId2" Type="http://schemas.openxmlformats.org/officeDocument/2006/relationships/image" Target="../media/image21.png"/><Relationship Id="rId1" Type="http://schemas.openxmlformats.org/officeDocument/2006/relationships/image" Target="../media/image3.png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0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3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4.png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5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6.png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7.png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8.png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1.xml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15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9.png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4.xml"/><Relationship Id="rId1" Type="http://schemas.openxmlformats.org/officeDocument/2006/relationships/slideLayout" Target="../slideLayouts/slideLayout1.xml"/></Relationships>
</file>

<file path=ppt/slides/_rels/slide1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5.xml"/><Relationship Id="rId1" Type="http://schemas.openxmlformats.org/officeDocument/2006/relationships/slideLayout" Target="../slideLayouts/slideLayout1.xml"/></Relationships>
</file>

<file path=ppt/slides/_rels/slide1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6.xml"/><Relationship Id="rId1" Type="http://schemas.openxmlformats.org/officeDocument/2006/relationships/slideLayout" Target="../slideLayouts/slideLayout1.xml"/></Relationships>
</file>

<file path=ppt/slides/_rels/slide1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7.xml"/><Relationship Id="rId1" Type="http://schemas.openxmlformats.org/officeDocument/2006/relationships/slideLayout" Target="../slideLayouts/slideLayout1.xml"/></Relationships>
</file>

<file path=ppt/slides/_rels/slide1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8.xml"/><Relationship Id="rId1" Type="http://schemas.openxmlformats.org/officeDocument/2006/relationships/slideLayout" Target="../slideLayouts/slideLayout1.xml"/></Relationships>
</file>

<file path=ppt/slides/_rels/slide15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0.png"/></Relationships>
</file>

<file path=ppt/slides/_rels/slide16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7315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KDP 5AM CLUB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457200" y="219456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3 Ngày Huấn Luyện Chuyên Sâu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Kiếm tiền với Amazon Kindle Direct Publishing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200400" y="3383280"/>
            <a:ext cx="27432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8" name="Text 5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viên: Tony Trieu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5A623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"Find a starving crowd before you cook"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5A623"/>
          </a:solidFill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Lộ trình 3 Ngày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68680"/>
            <a:ext cx="2606040" cy="32918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68680"/>
            <a:ext cx="2606040" cy="4572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457200" y="86868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DAY 1</a:t>
            </a:r>
            <a:endParaRPr lang="en-US" sz="18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50876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205740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Niche Hunting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288036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+ Niche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 ý tưởng win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37560" y="868680"/>
            <a:ext cx="2606040" cy="32918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37560" y="868680"/>
            <a:ext cx="2606040" cy="4572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4" name="Text 11"/>
          <p:cNvSpPr/>
          <p:nvPr/>
        </p:nvSpPr>
        <p:spPr>
          <a:xfrm>
            <a:off x="3337560" y="86868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DAY 2</a:t>
            </a:r>
            <a:endParaRPr lang="en-US" sz="1800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508760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3520440" y="205740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Listing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520440" y="288036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sách lên KDP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 sách live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6217920" y="868680"/>
            <a:ext cx="2606040" cy="32918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217920" y="868680"/>
            <a:ext cx="2606040" cy="4572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20" name="Text 16"/>
          <p:cNvSpPr/>
          <p:nvPr/>
        </p:nvSpPr>
        <p:spPr>
          <a:xfrm>
            <a:off x="6217920" y="86868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DAY 3</a:t>
            </a:r>
            <a:endParaRPr lang="en-US" sz="1800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508760"/>
            <a:ext cx="457200" cy="457200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00800" y="205740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&amp; Scale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6400800" y="2880360"/>
            <a:ext cx="22402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+ Hệ thống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Roadmap 21 ngày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457200" y="43434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kết: Cuối ngày 3, mỗi học viên có ít nhất 1 sách thật trên Amazon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Vì sao 5AM Club?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7315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9" name="Text 6"/>
          <p:cNvSpPr/>
          <p:nvPr/>
        </p:nvSpPr>
        <p:spPr>
          <a:xfrm>
            <a:off x="731520" y="91440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2h sáng = 4h ban ngày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931920" y="91440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distraction, năng suất gấp đôi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1C2940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1783080"/>
            <a:ext cx="54864" cy="7315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3" name="Text 10"/>
          <p:cNvSpPr/>
          <p:nvPr/>
        </p:nvSpPr>
        <p:spPr>
          <a:xfrm>
            <a:off x="731520" y="178308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fresh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931920" y="178308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Quyết định niche/ads chuẩn xác hơn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265176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" y="2651760"/>
            <a:ext cx="54864" cy="7315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7" name="Text 14"/>
          <p:cNvSpPr/>
          <p:nvPr/>
        </p:nvSpPr>
        <p:spPr>
          <a:xfrm>
            <a:off x="731520" y="26517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ngày × 4-5h = 100h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931920" y="265176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Sprint tập trung — đủ để launch 100 sách đầu tiên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3520440"/>
            <a:ext cx="8229600" cy="731520"/>
          </a:xfrm>
          <a:prstGeom prst="rect">
            <a:avLst/>
          </a:prstGeom>
          <a:solidFill>
            <a:srgbClr val="1C2940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57200" y="3520440"/>
            <a:ext cx="54864" cy="7315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21" name="Text 18"/>
          <p:cNvSpPr/>
          <p:nvPr/>
        </p:nvSpPr>
        <p:spPr>
          <a:xfrm>
            <a:off x="731520" y="352044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Lệch giờ gia đình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3931920" y="3520440"/>
            <a:ext cx="45720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Guilt-free — không ai bị ảnh hưởng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Quy tắc khóa học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640080" y="1005840"/>
            <a:ext cx="786384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8" name="Shape 5"/>
          <p:cNvSpPr/>
          <p:nvPr/>
        </p:nvSpPr>
        <p:spPr>
          <a:xfrm>
            <a:off x="640080" y="1005840"/>
            <a:ext cx="457200" cy="54864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9" name="Text 6"/>
          <p:cNvSpPr/>
          <p:nvPr/>
        </p:nvSpPr>
        <p:spPr>
          <a:xfrm>
            <a:off x="640080" y="1005840"/>
            <a:ext cx="457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234440" y="1005840"/>
            <a:ext cx="7132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 ON trong workshop (accountability)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40080" y="1691640"/>
            <a:ext cx="786384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2" name="Shape 9"/>
          <p:cNvSpPr/>
          <p:nvPr/>
        </p:nvSpPr>
        <p:spPr>
          <a:xfrm>
            <a:off x="640080" y="1691640"/>
            <a:ext cx="457200" cy="54864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3" name="Text 10"/>
          <p:cNvSpPr/>
          <p:nvPr/>
        </p:nvSpPr>
        <p:spPr>
          <a:xfrm>
            <a:off x="640080" y="1691640"/>
            <a:ext cx="457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234440" y="1691640"/>
            <a:ext cx="7132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sách thật, không "tưởng tượng"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6" name="Shape 13"/>
          <p:cNvSpPr/>
          <p:nvPr/>
        </p:nvSpPr>
        <p:spPr>
          <a:xfrm>
            <a:off x="640080" y="2377440"/>
            <a:ext cx="457200" cy="54864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7" name="Text 14"/>
          <p:cNvSpPr/>
          <p:nvPr/>
        </p:nvSpPr>
        <p:spPr>
          <a:xfrm>
            <a:off x="640080" y="2377440"/>
            <a:ext cx="457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1234440" y="2377440"/>
            <a:ext cx="7132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Hỏi NGAY khi tắc — không lưu trong đầu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0080" y="3063240"/>
            <a:ext cx="786384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0" name="Shape 17"/>
          <p:cNvSpPr/>
          <p:nvPr/>
        </p:nvSpPr>
        <p:spPr>
          <a:xfrm>
            <a:off x="640080" y="3063240"/>
            <a:ext cx="457200" cy="54864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21" name="Text 18"/>
          <p:cNvSpPr/>
          <p:nvPr/>
        </p:nvSpPr>
        <p:spPr>
          <a:xfrm>
            <a:off x="640080" y="3063240"/>
            <a:ext cx="457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1234440" y="3063240"/>
            <a:ext cx="7132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group: Telegram/Zalo riêng cho 3 ngày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40080" y="3749040"/>
            <a:ext cx="786384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4" name="Shape 21"/>
          <p:cNvSpPr/>
          <p:nvPr/>
        </p:nvSpPr>
        <p:spPr>
          <a:xfrm>
            <a:off x="640080" y="3749040"/>
            <a:ext cx="457200" cy="54864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25" name="Text 22"/>
          <p:cNvSpPr/>
          <p:nvPr/>
        </p:nvSpPr>
        <p:spPr>
          <a:xfrm>
            <a:off x="640080" y="3749040"/>
            <a:ext cx="4572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1234440" y="3749040"/>
            <a:ext cx="713232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 BẮT BUỘC — không làm, không kịp ngày sau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Day 1 — Agenda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457200" y="868680"/>
          <a:ext cx="8229600" cy="2880360"/>
        </p:xfrm>
        <a:graphic>
          <a:graphicData uri="http://schemas.openxmlformats.org/drawingml/2006/table">
            <a:tbl>
              <a:tblPr/>
              <a:tblGrid>
                <a:gridCol w="1828800"/>
                <a:gridCol w="5029200"/>
                <a:gridCol w="1371600"/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Thời gian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Nội dung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Thời lượng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0:00-0:10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Welcome &amp; Giới thiệu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0:10-0:30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KDP Business Model 101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0:30-1:00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Account A-Z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1:00-1:40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Niche Hunting Framework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1:40-1:55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Workshop: Tìm 5 niche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1:55-2:00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 + Q&amp;A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Cấu trúc: Theory → Demo → Workshop → Q&amp;A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KDP là gì?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1005840"/>
            <a:ext cx="8229600" cy="11887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1005840"/>
            <a:ext cx="54864" cy="11887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9" name="Text 6"/>
          <p:cNvSpPr/>
          <p:nvPr/>
        </p:nvSpPr>
        <p:spPr>
          <a:xfrm>
            <a:off x="640080" y="107899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Kindle Direct Publishing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1389888"/>
            <a:ext cx="79095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Nền tảng tự xuất bản sách của Amazon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format: Paperback, Hardcover, Kindle eBook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upload — không phí setup, không phí lưu kho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solidFill>
            <a:srgbClr val="F5A623">
              <a:alpha val="20000"/>
            </a:srgbClr>
          </a:solidFill>
        </p:spPr>
      </p:sp>
      <p:sp>
        <p:nvSpPr>
          <p:cNvPr id="12" name="Text 9"/>
          <p:cNvSpPr/>
          <p:nvPr/>
        </p:nvSpPr>
        <p:spPr>
          <a:xfrm>
            <a:off x="640080" y="246888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 học focus: Paperback Low-Content (margin tốt nhất cho newbie)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3200400"/>
            <a:ext cx="26060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329184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48640" y="365760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Paperback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548640" y="3931920"/>
            <a:ext cx="2423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Sách bìa mềm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3337560" y="3200400"/>
            <a:ext cx="26060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329184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429000" y="365760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Hardcover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3429000" y="3931920"/>
            <a:ext cx="2423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Sách bìa cứng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217920" y="3200400"/>
            <a:ext cx="26060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3291840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309360" y="3657600"/>
            <a:ext cx="2423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Kindle eBook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6309360" y="3931920"/>
            <a:ext cx="2423160" cy="228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Sách điện tử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Low-Content vs No-Content vs Full-Content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8" name="Table 0"/>
          <p:cNvGraphicFramePr>
            <a:graphicFrameLocks noGrp="1"/>
          </p:cNvGraphicFramePr>
          <p:nvPr/>
        </p:nvGraphicFramePr>
        <p:xfrm>
          <a:off x="457200" y="868680"/>
          <a:ext cx="8229600" cy="22860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1645920"/>
                <a:gridCol w="155448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Loại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Ví dụ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Effort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No-content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Notebook trắng, lined journal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Thấp nhất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$1-2/sale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Low-content ⭐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Coloring, Sudoku, Planner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Trung bình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$2-5/sale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Medium-content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Workbook, Crossword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Cao hơn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$3-6/sale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Full-content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Novel, How-to book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Rất cao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$4-8/sale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200400"/>
            <a:ext cx="8229600" cy="457200"/>
          </a:xfrm>
          <a:prstGeom prst="rect">
            <a:avLst/>
          </a:prstGeom>
          <a:solidFill>
            <a:srgbClr val="F5A623">
              <a:alpha val="15000"/>
            </a:srgbClr>
          </a:solidFill>
        </p:spPr>
      </p:sp>
      <p:sp>
        <p:nvSpPr>
          <p:cNvPr id="6" name="Text 5"/>
          <p:cNvSpPr/>
          <p:nvPr/>
        </p:nvSpPr>
        <p:spPr>
          <a:xfrm>
            <a:off x="640080" y="320040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Khuyến nghị newbie: Low-content (sweet spot effort/margin)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Royalty Model (60% Paperback)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10058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8" name="Text 5"/>
          <p:cNvSpPr/>
          <p:nvPr/>
        </p:nvSpPr>
        <p:spPr>
          <a:xfrm>
            <a:off x="594360" y="987552"/>
            <a:ext cx="7955280" cy="859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Royalty = (Price × 0.60) − Printing Cost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Ví dụ: Bán $9.99 → Royalty = $9.99 × 0.60 − $2.30 = $3.69/sale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219456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57200" y="224028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$3.69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457200" y="279806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Royalty/sale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46120" y="219456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246120" y="224028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$369</a:t>
            </a:r>
            <a:endParaRPr lang="en-US" sz="2800" dirty="0"/>
          </a:p>
        </p:txBody>
      </p:sp>
      <p:sp>
        <p:nvSpPr>
          <p:cNvPr id="14" name="Text 11"/>
          <p:cNvSpPr/>
          <p:nvPr/>
        </p:nvSpPr>
        <p:spPr>
          <a:xfrm>
            <a:off x="3246120" y="279806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sales/tháng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035040" y="219456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035040" y="224028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30-50</a:t>
            </a:r>
            <a:endParaRPr lang="en-US" sz="2800" dirty="0"/>
          </a:p>
        </p:txBody>
      </p:sp>
      <p:sp>
        <p:nvSpPr>
          <p:cNvPr id="17" name="Text 14"/>
          <p:cNvSpPr/>
          <p:nvPr/>
        </p:nvSpPr>
        <p:spPr>
          <a:xfrm>
            <a:off x="6035040" y="279806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Cuốn năm 1 target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57200" y="35661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21 ngày: 100 cuốn sách → $100-500/tháng, nền tảng scale lên $1,000+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Royalty Calculator Template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10" name="Table 0"/>
          <p:cNvGraphicFramePr>
            <a:graphicFrameLocks noGrp="1"/>
          </p:cNvGraphicFramePr>
          <p:nvPr/>
        </p:nvGraphicFramePr>
        <p:xfrm>
          <a:off x="457200" y="868680"/>
          <a:ext cx="8229600" cy="228600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097280"/>
                <a:gridCol w="1097280"/>
                <a:gridCol w="1371600"/>
                <a:gridCol w="118872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 Size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Pages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Royalty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sales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8.5×11 B&amp;W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$2.65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$3.34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$334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8.5×11 B&amp;W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$1.93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$2.86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$286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8.5×8.5 Color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$4.85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$4.14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$414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8.5×11 Color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$13.65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-$1.66 ❌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LỖ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solidFill>
            <a:srgbClr val="EF4444">
              <a:alpha val="20000"/>
            </a:srgbClr>
          </a:solidFill>
        </p:spPr>
      </p:sp>
      <p:sp>
        <p:nvSpPr>
          <p:cNvPr id="8" name="Text 5"/>
          <p:cNvSpPr/>
          <p:nvPr/>
        </p:nvSpPr>
        <p:spPr>
          <a:xfrm>
            <a:off x="640080" y="329184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Color cao trang = LỖ. Quy tắc: Color ≤ 30 trang HOẶC B&amp;W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Thị trường KDP 2026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5720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$25B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5720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Doanh thu Amazon Books/năm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256032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56032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40%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256032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Self-published market share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466344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66344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$230M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466344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Coloring book niche/năm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76656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676656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$1M+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676656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KDP authors/năm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solidFill>
            <a:srgbClr val="EF4444">
              <a:alpha val="15000"/>
            </a:srgbClr>
          </a:solidFill>
        </p:spPr>
      </p:sp>
      <p:sp>
        <p:nvSpPr>
          <p:cNvPr id="20" name="Text 17"/>
          <p:cNvSpPr/>
          <p:nvPr/>
        </p:nvSpPr>
        <p:spPr>
          <a:xfrm>
            <a:off x="640080" y="237744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tế: 80% publishers kiếm &lt;$100/tháng → cần CHIẾN LƯỢC ĐÚNG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5 Sai lầm khiến 80% Newbie thất bại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59436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8" name="Shape 5"/>
          <p:cNvSpPr/>
          <p:nvPr/>
        </p:nvSpPr>
        <p:spPr>
          <a:xfrm>
            <a:off x="457200" y="914400"/>
            <a:ext cx="457200" cy="59436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9" name="Text 6"/>
          <p:cNvSpPr/>
          <p:nvPr/>
        </p:nvSpPr>
        <p:spPr>
          <a:xfrm>
            <a:off x="457200" y="914400"/>
            <a:ext cx="457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051560" y="914400"/>
            <a:ext cx="2743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quá cạnh tranh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840480" y="914400"/>
            <a:ext cx="45720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Làm "unicorn coloring" → chết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627632"/>
            <a:ext cx="8229600" cy="59436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3" name="Shape 10"/>
          <p:cNvSpPr/>
          <p:nvPr/>
        </p:nvSpPr>
        <p:spPr>
          <a:xfrm>
            <a:off x="457200" y="1627632"/>
            <a:ext cx="457200" cy="59436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4" name="Text 11"/>
          <p:cNvSpPr/>
          <p:nvPr/>
        </p:nvSpPr>
        <p:spPr>
          <a:xfrm>
            <a:off x="457200" y="1627632"/>
            <a:ext cx="457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051560" y="1627632"/>
            <a:ext cx="2743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Cover/Interior xấu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840480" y="1627632"/>
            <a:ext cx="45720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DIY trong Word → không ai mua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2340864"/>
            <a:ext cx="8229600" cy="59436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8" name="Shape 15"/>
          <p:cNvSpPr/>
          <p:nvPr/>
        </p:nvSpPr>
        <p:spPr>
          <a:xfrm>
            <a:off x="457200" y="2340864"/>
            <a:ext cx="457200" cy="59436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9" name="Text 16"/>
          <p:cNvSpPr/>
          <p:nvPr/>
        </p:nvSpPr>
        <p:spPr>
          <a:xfrm>
            <a:off x="457200" y="2340864"/>
            <a:ext cx="457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051560" y="2340864"/>
            <a:ext cx="2743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không SEO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840480" y="2340864"/>
            <a:ext cx="45720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keyword research → invisible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3054096"/>
            <a:ext cx="8229600" cy="59436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3" name="Shape 20"/>
          <p:cNvSpPr/>
          <p:nvPr/>
        </p:nvSpPr>
        <p:spPr>
          <a:xfrm>
            <a:off x="457200" y="3054096"/>
            <a:ext cx="457200" cy="59436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4" name="Text 21"/>
          <p:cNvSpPr/>
          <p:nvPr/>
        </p:nvSpPr>
        <p:spPr>
          <a:xfrm>
            <a:off x="457200" y="3054096"/>
            <a:ext cx="457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051560" y="3054096"/>
            <a:ext cx="2743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chạy Ads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3840480" y="3054096"/>
            <a:ext cx="45720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5,000,000+ → không ai thấy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57200" y="3767328"/>
            <a:ext cx="8229600" cy="59436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8" name="Shape 25"/>
          <p:cNvSpPr/>
          <p:nvPr/>
        </p:nvSpPr>
        <p:spPr>
          <a:xfrm>
            <a:off x="457200" y="3767328"/>
            <a:ext cx="457200" cy="59436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9" name="Text 26"/>
          <p:cNvSpPr/>
          <p:nvPr/>
        </p:nvSpPr>
        <p:spPr>
          <a:xfrm>
            <a:off x="457200" y="3767328"/>
            <a:ext cx="457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1051560" y="3767328"/>
            <a:ext cx="27432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 cuộc quá sớm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3840480" y="3767328"/>
            <a:ext cx="4572000" cy="5943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Cần 100 sách để tìm Winner — volume is king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KDP vs Các Business Online Khác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13" name="Table 0"/>
          <p:cNvGraphicFramePr>
            <a:graphicFrameLocks noGrp="1"/>
          </p:cNvGraphicFramePr>
          <p:nvPr/>
        </p:nvGraphicFramePr>
        <p:xfrm>
          <a:off x="457200" y="868680"/>
          <a:ext cx="8229600" cy="274320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2011680"/>
                <a:gridCol w="228600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Vốn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Thời gian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Passive %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Affiliate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tháng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Dropship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tháng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Print-on-demand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tháng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KDP ⭐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3-6 tháng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FBA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tháng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 = vốn thấp nhất, passive cao nhất. Trade-off: market saturation cao.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Bức tranh lớn: Hệ thống KDP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274320" y="1097280"/>
            <a:ext cx="1051560" cy="640080"/>
          </a:xfrm>
          <a:prstGeom prst="rect">
            <a:avLst/>
          </a:prstGeom>
          <a:solidFill>
            <a:srgbClr val="3B82F6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74320" y="109728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325880" y="1097280"/>
            <a:ext cx="16459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490472" y="1097280"/>
            <a:ext cx="1051560" cy="640080"/>
          </a:xfrm>
          <a:prstGeom prst="rect">
            <a:avLst/>
          </a:prstGeom>
          <a:solidFill>
            <a:srgbClr val="8B5CF6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490472" y="109728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42032" y="1097280"/>
            <a:ext cx="16459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06624" y="1097280"/>
            <a:ext cx="1051560" cy="640080"/>
          </a:xfrm>
          <a:prstGeom prst="rect">
            <a:avLst/>
          </a:prstGeom>
          <a:solidFill>
            <a:srgbClr val="14B8A6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06624" y="109728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758184" y="1097280"/>
            <a:ext cx="16459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3922776" y="1097280"/>
            <a:ext cx="1051560" cy="640080"/>
          </a:xfrm>
          <a:prstGeom prst="rect">
            <a:avLst/>
          </a:prstGeom>
          <a:solidFill>
            <a:srgbClr val="F5A623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922776" y="109728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974336" y="1097280"/>
            <a:ext cx="16459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138928" y="1097280"/>
            <a:ext cx="1051560" cy="640080"/>
          </a:xfrm>
          <a:prstGeom prst="rect">
            <a:avLst/>
          </a:prstGeom>
          <a:solidFill>
            <a:srgbClr val="22C55E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138928" y="109728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90488" y="1097280"/>
            <a:ext cx="16459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355080" y="1097280"/>
            <a:ext cx="1051560" cy="640080"/>
          </a:xfrm>
          <a:prstGeom prst="rect">
            <a:avLst/>
          </a:prstGeom>
          <a:solidFill>
            <a:srgbClr val="EF4444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355080" y="109728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06640" y="1097280"/>
            <a:ext cx="16459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</a:rPr>
              <a:t>→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571232" y="1097280"/>
            <a:ext cx="1051560" cy="640080"/>
          </a:xfrm>
          <a:prstGeom prst="rect">
            <a:avLst/>
          </a:prstGeom>
          <a:solidFill>
            <a:srgbClr val="F5A623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71232" y="109728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2194560"/>
            <a:ext cx="822960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bước có tool + checklist riêng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ngày khóa học = đi qua TOÀN BỘ chu trình 1 lần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khóa: lặp chu trình 10-20 lần để tìm winner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Setup Checklist — Chuẩn bị trước khi bắt đầu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Text 4"/>
          <p:cNvSpPr/>
          <p:nvPr/>
        </p:nvSpPr>
        <p:spPr>
          <a:xfrm>
            <a:off x="640080" y="914400"/>
            <a:ext cx="7863840" cy="3200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Email mới (Gmail) dành riêng cho KDP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Tài khoản ngân hàng nhận USD (Payoneer / Wise)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Mã số thuế Mỹ (W-8BEN) — không cần SSN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Địa chỉ + số điện thoại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Chứng minh thư / Hộ chiếu (verify Amazon)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Author name (pen name OK)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Bước 1: Tạo Amazon Customer Account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0116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0116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amazon.com → Create Account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1554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RIÊNG (không dùng email cá nhân)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Mật khẩu mạnh + bật 2FA (Two-Factor Authentication)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solidFill>
            <a:srgbClr val="EF4444">
              <a:alpha val="15000"/>
            </a:srgbClr>
          </a:solidFill>
        </p:spPr>
      </p:sp>
      <p:sp>
        <p:nvSpPr>
          <p:cNvPr id="11" name="Text 9"/>
          <p:cNvSpPr/>
          <p:nvPr/>
        </p:nvSpPr>
        <p:spPr>
          <a:xfrm>
            <a:off x="640080" y="3108960"/>
            <a:ext cx="78638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KHÔNG dùng VPN trong giai đoạn này — Amazon ghét IP nhảy, dễ bị flag account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Bước 2: Đăng ký KDP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2860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kdp.amazon.com → Sign 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"Update Now" để hoàn tất profile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tab cần fill: Author, Payment, Tax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Tất cả thông tin phải CHÍNH XÁC (Amazon verify)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474720"/>
            <a:ext cx="2606040" cy="7315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1" name="Shape 9"/>
          <p:cNvSpPr/>
          <p:nvPr/>
        </p:nvSpPr>
        <p:spPr>
          <a:xfrm>
            <a:off x="457200" y="3474720"/>
            <a:ext cx="260604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2" name="Text 10"/>
          <p:cNvSpPr/>
          <p:nvPr/>
        </p:nvSpPr>
        <p:spPr>
          <a:xfrm>
            <a:off x="457200" y="3547872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84048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Thông tin cá nhân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37560" y="3474720"/>
            <a:ext cx="2606040" cy="7315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5" name="Shape 13"/>
          <p:cNvSpPr/>
          <p:nvPr/>
        </p:nvSpPr>
        <p:spPr>
          <a:xfrm>
            <a:off x="3337560" y="3474720"/>
            <a:ext cx="2606040" cy="54864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6" name="Text 14"/>
          <p:cNvSpPr/>
          <p:nvPr/>
        </p:nvSpPr>
        <p:spPr>
          <a:xfrm>
            <a:off x="3337560" y="3547872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337560" y="384048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khoản nhận tiền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17920" y="3474720"/>
            <a:ext cx="2606040" cy="7315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Shape 17"/>
          <p:cNvSpPr/>
          <p:nvPr/>
        </p:nvSpPr>
        <p:spPr>
          <a:xfrm>
            <a:off x="6217920" y="3474720"/>
            <a:ext cx="2606040" cy="54864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20" name="Text 18"/>
          <p:cNvSpPr/>
          <p:nvPr/>
        </p:nvSpPr>
        <p:spPr>
          <a:xfrm>
            <a:off x="6217920" y="3547872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384048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Khai báo thuế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Bước 3: Author Information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6868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Shape 5"/>
          <p:cNvSpPr/>
          <p:nvPr/>
        </p:nvSpPr>
        <p:spPr>
          <a:xfrm>
            <a:off x="457200" y="868680"/>
            <a:ext cx="54864" cy="640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731520" y="86868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Country/Region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08960" y="868680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(hoặc nơi cư trú thực tế)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1" name="Shape 9"/>
          <p:cNvSpPr/>
          <p:nvPr/>
        </p:nvSpPr>
        <p:spPr>
          <a:xfrm>
            <a:off x="457200" y="1645920"/>
            <a:ext cx="54864" cy="640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2" name="Text 10"/>
          <p:cNvSpPr/>
          <p:nvPr/>
        </p:nvSpPr>
        <p:spPr>
          <a:xfrm>
            <a:off x="731520" y="164592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Name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08960" y="1645920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Tên thật trên hộ chiếu (KHÔNG phải pen name)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2316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5" name="Shape 13"/>
          <p:cNvSpPr/>
          <p:nvPr/>
        </p:nvSpPr>
        <p:spPr>
          <a:xfrm>
            <a:off x="457200" y="2423160"/>
            <a:ext cx="54864" cy="640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6" name="Text 14"/>
          <p:cNvSpPr/>
          <p:nvPr/>
        </p:nvSpPr>
        <p:spPr>
          <a:xfrm>
            <a:off x="731520" y="242316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108960" y="2423160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Địa chỉ thực tế (Amazon gửi tài liệu thuế)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0040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Shape 17"/>
          <p:cNvSpPr/>
          <p:nvPr/>
        </p:nvSpPr>
        <p:spPr>
          <a:xfrm>
            <a:off x="457200" y="3200400"/>
            <a:ext cx="54864" cy="640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20" name="Text 18"/>
          <p:cNvSpPr/>
          <p:nvPr/>
        </p:nvSpPr>
        <p:spPr>
          <a:xfrm>
            <a:off x="731520" y="3200400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108960" y="3200400"/>
            <a:ext cx="53035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VN OK (+84...)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Bước 4: Payment Method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3840480" cy="219456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19456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— </a:t>
            </a:r>
            <a:r>
              <a:rPr lang="vi-VN" alt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Worldfirst </a:t>
            </a: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(Khuyến nghị)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52044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account payoneer.com → Free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Lấy "US Receiving Account"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routing + account vào KDP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Phí rút về VN: 1-2%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4114800" cy="219456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822960"/>
            <a:ext cx="54864" cy="219456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2" name="Text 10"/>
          <p:cNvSpPr/>
          <p:nvPr/>
        </p:nvSpPr>
        <p:spPr>
          <a:xfrm>
            <a:off x="47548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— Wise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1207008"/>
            <a:ext cx="3794760" cy="17373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Tương tự </a:t>
            </a:r>
            <a:r>
              <a:rPr lang="vi-VN" alt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worldfirst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account miễn phí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Tốc độ chuyển nhanh hơn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solidFill>
            <a:srgbClr val="EF4444">
              <a:alpha val="15000"/>
            </a:srgbClr>
          </a:solidFill>
        </p:spPr>
      </p:sp>
      <p:sp>
        <p:nvSpPr>
          <p:cNvPr id="15" name="Text 13"/>
          <p:cNvSpPr/>
          <p:nvPr/>
        </p:nvSpPr>
        <p:spPr>
          <a:xfrm>
            <a:off x="640080" y="329184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Option C — Direct ngân hàng VN: KHÔNG hoạt động cho US KDP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Bước 5: Tax Interview (W-8BEN)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777240"/>
            <a:ext cx="8229600" cy="457200"/>
          </a:xfrm>
          <a:prstGeom prst="rect">
            <a:avLst/>
          </a:prstGeom>
          <a:solidFill>
            <a:srgbClr val="F59E0B">
              <a:alpha val="20000"/>
            </a:srgbClr>
          </a:solidFill>
        </p:spPr>
      </p:sp>
      <p:sp>
        <p:nvSpPr>
          <p:cNvPr id="7" name="Text 5"/>
          <p:cNvSpPr/>
          <p:nvPr/>
        </p:nvSpPr>
        <p:spPr>
          <a:xfrm>
            <a:off x="640080" y="77724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Bước QUAN TRỌNG NHẤT — sai = 30% withholding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417320"/>
            <a:ext cx="384048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417320"/>
            <a:ext cx="54864" cy="228600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0" name="Text 8"/>
          <p:cNvSpPr/>
          <p:nvPr/>
        </p:nvSpPr>
        <p:spPr>
          <a:xfrm>
            <a:off x="640080" y="149047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có ITIN/EIN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1801368"/>
            <a:ext cx="352044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Vẫn submit được W-8BEN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Tên đầy đủ + Country: Vietnam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"Individual"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 treaty: VN-US → claim 10%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Mặc định: 30% withholding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1417320"/>
            <a:ext cx="41148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0" y="1417320"/>
            <a:ext cx="54864" cy="22860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4" name="Text 12"/>
          <p:cNvSpPr/>
          <p:nvPr/>
        </p:nvSpPr>
        <p:spPr>
          <a:xfrm>
            <a:off x="4754880" y="149047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ITIN/EIN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754880" y="1801368"/>
            <a:ext cx="37947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ITIN vào form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Withholding: 0%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W-7 qua IRS Agent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rất cao nếu bán &gt; $500/tháng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Tax Treaty Vietnam-US (Quan trọng!)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57200" y="96012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10%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57200" y="151790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Withholding có ITIN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46120" y="91440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246120" y="96012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EF4444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30%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246120" y="151790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Withholding không ITIN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035040" y="91440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035040" y="96012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2002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6035040" y="151790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ký Hiệp định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2286000"/>
            <a:ext cx="8229600" cy="16459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57200" y="2286000"/>
            <a:ext cx="54864" cy="16459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8" name="Text 15"/>
          <p:cNvSpPr/>
          <p:nvPr/>
        </p:nvSpPr>
        <p:spPr>
          <a:xfrm>
            <a:off x="640080" y="235915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lấy ITIN miễn phí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0080" y="2670048"/>
            <a:ext cx="790956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Form W-7 qua IRS Acceptance Agent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Đa số newbie skip ITIN → mất 30% royalty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ROI: nếu kiếm $1000/tháng → mất $300 vs $100 (save $200/tháng)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Demo: Hoàn tất KDP Profile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7" name="Text 5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280160"/>
            <a:ext cx="78638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share screen walkthrough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 LÀM SONG SONG (workshop)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103120"/>
            <a:ext cx="8229600" cy="20116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2103120"/>
            <a:ext cx="54864" cy="201168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1" name="Text 9"/>
          <p:cNvSpPr/>
          <p:nvPr/>
        </p:nvSpPr>
        <p:spPr>
          <a:xfrm>
            <a:off x="640080" y="217627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 khi setup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487168"/>
            <a:ext cx="7909560" cy="1554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 format Mỹ vs VN (số nhà, đường, quận/huyện)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country code: +84 thay vì 0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name typo → payment reject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hộ chiếu hết hạn → verify fail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Account Safety: Banned Terms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Text 4"/>
          <p:cNvSpPr/>
          <p:nvPr/>
        </p:nvSpPr>
        <p:spPr>
          <a:xfrm>
            <a:off x="914400" y="7772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BAO GIỜ dùng trong title/description/keywords: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9" name="Text 6"/>
          <p:cNvSpPr/>
          <p:nvPr/>
        </p:nvSpPr>
        <p:spPr>
          <a:xfrm>
            <a:off x="548640" y="1280160"/>
            <a:ext cx="3657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❌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05840" y="128016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"Best seller", "#1 bestseller"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754880" y="128016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"Award winning"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8745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3" name="Text 10"/>
          <p:cNvSpPr/>
          <p:nvPr/>
        </p:nvSpPr>
        <p:spPr>
          <a:xfrm>
            <a:off x="548640" y="1874520"/>
            <a:ext cx="3657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❌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05840" y="187452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Tên người nổi tiếng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4754880" y="187452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Disney, Marvel, Pokemon...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457200" y="246888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7" name="Text 14"/>
          <p:cNvSpPr/>
          <p:nvPr/>
        </p:nvSpPr>
        <p:spPr>
          <a:xfrm>
            <a:off x="548640" y="2468880"/>
            <a:ext cx="3657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❌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1005840" y="246888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"Free", "100% free"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4754880" y="246888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"Spiral bound", "Hard bound"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457200" y="306324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1" name="Text 18"/>
          <p:cNvSpPr/>
          <p:nvPr/>
        </p:nvSpPr>
        <p:spPr>
          <a:xfrm>
            <a:off x="548640" y="3063240"/>
            <a:ext cx="36576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</a:rPr>
              <a:t>❌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05840" y="306324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"Calendar" (non-calendar)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754880" y="3063240"/>
            <a:ext cx="3657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Tên đối thủ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phạm = title bị block, tệ hơn = BANNED account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Account Safety: Multi-account Rules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3840480" cy="27432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27432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9" name="Text 6"/>
          <p:cNvSpPr/>
          <p:nvPr/>
        </p:nvSpPr>
        <p:spPr>
          <a:xfrm>
            <a:off x="640080" y="98755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1298448"/>
            <a:ext cx="35204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người = 1 account KDP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 địa chỉ + thuế + payment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 name (bút danh) trong 1 account: OK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 name: KHÔNG giới hạn số lượng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1: tuyệt đối CHỈ 1 account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0" y="914400"/>
            <a:ext cx="4114800" cy="27432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0" y="914400"/>
            <a:ext cx="54864" cy="2743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3" name="Text 10"/>
          <p:cNvSpPr/>
          <p:nvPr/>
        </p:nvSpPr>
        <p:spPr>
          <a:xfrm>
            <a:off x="4754880" y="98755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phạm = BAN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754880" y="1298448"/>
            <a:ext cx="379476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tạo 2 account cùng IP/device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dùng chung payment method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 toàn bộ account + freeze tiền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"Family member" = grey zone, risky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KDP Publishing Limits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2560320" cy="11887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2560320" cy="653796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10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568196"/>
            <a:ext cx="2560320" cy="475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titles/format/tuần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560320" cy="11887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46120" y="960120"/>
            <a:ext cx="2560320" cy="653796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46120" y="1568196"/>
            <a:ext cx="2560320" cy="475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titles/tuần (3 format)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914400"/>
            <a:ext cx="2560320" cy="11887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35040" y="960120"/>
            <a:ext cx="2560320" cy="653796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2-3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035040" y="1568196"/>
            <a:ext cx="2560320" cy="475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sách/tuần (newbie khuyến nghị)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8229600" cy="13716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2468880"/>
            <a:ext cx="54864" cy="13716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7" name="Text 15"/>
          <p:cNvSpPr/>
          <p:nvPr/>
        </p:nvSpPr>
        <p:spPr>
          <a:xfrm>
            <a:off x="640080" y="254203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tiết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2852928"/>
            <a:ext cx="790956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paperback + 10 ebook + 10 hardcover = 30 titles/tuần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Vượt = bị flag → review 7-30 ngày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Newbie: 2-3 sách/tuần là tối ưu, không nên vượt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Workshop: Setup Account KDP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777240"/>
            <a:ext cx="1463040" cy="32004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7" name="Text 5"/>
          <p:cNvSpPr/>
          <p:nvPr/>
        </p:nvSpPr>
        <p:spPr>
          <a:xfrm>
            <a:off x="457200" y="77724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WORKSHOP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03120" y="77724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tiêu: Account KDP HOẠT ĐỘNG cuối buổi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7863840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Tạo email mới (Gmail)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Đăng ký Payoneer / Wise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Tạo KDP account tại kdp.amazon.com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Hoàn tất Author + Payment + Tax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Screenshot Tax Status = "Validated"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Giảng viên hỗ trợ 1-1 nếu bị tắc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Vì sao Niche QUAN TRỌNG nhất?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3840480" cy="13716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57200" y="960120"/>
            <a:ext cx="3840480" cy="75438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70%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57200" y="1668780"/>
            <a:ext cx="3840480" cy="54864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 công phụ thuộc vào Niche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0" y="914400"/>
            <a:ext cx="4114800" cy="13716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72000" y="914400"/>
            <a:ext cx="54864" cy="13716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2" name="Text 9"/>
          <p:cNvSpPr/>
          <p:nvPr/>
        </p:nvSpPr>
        <p:spPr>
          <a:xfrm>
            <a:off x="4754880" y="98755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cùng effort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4754880" y="1298448"/>
            <a:ext cx="379476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tốt → $500/tháng/sách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xấu → $5/tháng/sách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F5A623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"Don't compete, dominate a sub-niche"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tắc: chọn niche nơi bạn có thể là TOP 10 trong 21 ngày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Blue Ocean Framework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548640" cy="73152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9" name="Text 6"/>
          <p:cNvSpPr/>
          <p:nvPr/>
        </p:nvSpPr>
        <p:spPr>
          <a:xfrm>
            <a:off x="457200" y="914400"/>
            <a:ext cx="5486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188720" y="91440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đủ lớn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389120" y="914400"/>
            <a:ext cx="4114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100 sales/tháng cho top 10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" y="1828800"/>
            <a:ext cx="548640" cy="73152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4" name="Text 11"/>
          <p:cNvSpPr/>
          <p:nvPr/>
        </p:nvSpPr>
        <p:spPr>
          <a:xfrm>
            <a:off x="457200" y="1828800"/>
            <a:ext cx="5486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1188720" y="182880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đủ yếu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4389120" y="1828800"/>
            <a:ext cx="4114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có ≥ 3 sách BSR &gt; 200,000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7200" y="2743200"/>
            <a:ext cx="548640" cy="7315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9" name="Text 16"/>
          <p:cNvSpPr/>
          <p:nvPr/>
        </p:nvSpPr>
        <p:spPr>
          <a:xfrm>
            <a:off x="457200" y="2743200"/>
            <a:ext cx="5486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188720" y="274320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Bạn làm được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4389120" y="2743200"/>
            <a:ext cx="4114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skill + budget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3840480"/>
            <a:ext cx="3840480" cy="457200"/>
          </a:xfrm>
          <a:prstGeom prst="rect">
            <a:avLst/>
          </a:prstGeom>
          <a:solidFill>
            <a:srgbClr val="EF4444">
              <a:alpha val="15000"/>
            </a:srgbClr>
          </a:solidFill>
        </p:spPr>
      </p:sp>
      <p:sp>
        <p:nvSpPr>
          <p:cNvPr id="23" name="Text 20"/>
          <p:cNvSpPr/>
          <p:nvPr/>
        </p:nvSpPr>
        <p:spPr>
          <a:xfrm>
            <a:off x="640080" y="3840480"/>
            <a:ext cx="3657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Red Ocean: "Mandala coloring", "Adult coloring book"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0" y="3840480"/>
            <a:ext cx="4114800" cy="457200"/>
          </a:xfrm>
          <a:prstGeom prst="rect">
            <a:avLst/>
          </a:prstGeom>
          <a:solidFill>
            <a:srgbClr val="22C55E">
              <a:alpha val="15000"/>
            </a:srgbClr>
          </a:solidFill>
        </p:spPr>
      </p:sp>
      <p:sp>
        <p:nvSpPr>
          <p:cNvPr id="25" name="Text 22"/>
          <p:cNvSpPr/>
          <p:nvPr/>
        </p:nvSpPr>
        <p:spPr>
          <a:xfrm>
            <a:off x="4754880" y="3840480"/>
            <a:ext cx="39319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Blue Ocean: "Mandala for left-handed seniors"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BSR là gì? (Best Seller Rank)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22860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9" name="Text 6"/>
          <p:cNvSpPr/>
          <p:nvPr/>
        </p:nvSpPr>
        <p:spPr>
          <a:xfrm>
            <a:off x="640080" y="98755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Seller Rank — Thứ hạng sách trên Amazon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1298448"/>
            <a:ext cx="79095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Càng THẤP càng bán chạy (BSR #1 = bán nhất category)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cập nhật mỗi giờ theo doanh số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check: scroll xuống "Product details" trên Amazon listing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khác nhau theo từng category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BSR → Daily Sales (Công thức ước tính)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30" name="Table 0"/>
          <p:cNvGraphicFramePr>
            <a:graphicFrameLocks noGrp="1"/>
          </p:cNvGraphicFramePr>
          <p:nvPr/>
        </p:nvGraphicFramePr>
        <p:xfrm>
          <a:off x="457200" y="822960"/>
          <a:ext cx="8229600" cy="2688336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103120"/>
                <a:gridCol w="2011680"/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BSR Range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Sales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Monthly Sales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1,000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– 500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3,000 – 15,000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1,000 – 10,000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– 100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 – 3,000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10,000 – 50,000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– 10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– 300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50,000 – 200,000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– 3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– 100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⭐ Sweet Spot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200,000 – 500,000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 – 1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– 30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500,000+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&lt;0.3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Sweet spot cho niche newbie target: BSR 50,000 – 200,000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Opportunity Score Formula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37160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12252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Opportunity = (Demand × 0.4) + (Profit × 0.3) - (Competition × 0.3)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Demand      = avg(monthly_sales of top 10)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Profit      = avg royalty per sale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 = số reviews trung bình top 10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468880"/>
            <a:ext cx="260604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468880"/>
            <a:ext cx="2606040" cy="54864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0" name="Text 8"/>
          <p:cNvSpPr/>
          <p:nvPr/>
        </p:nvSpPr>
        <p:spPr>
          <a:xfrm>
            <a:off x="457200" y="2542032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≥ 70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NICHE 🔥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37560" y="2468880"/>
            <a:ext cx="260604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37560" y="2468880"/>
            <a:ext cx="2606040" cy="54864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4" name="Text 12"/>
          <p:cNvSpPr/>
          <p:nvPr/>
        </p:nvSpPr>
        <p:spPr>
          <a:xfrm>
            <a:off x="3337560" y="2542032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50-70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337560" y="283464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 — xem xét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468880"/>
            <a:ext cx="260604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17920" y="2468880"/>
            <a:ext cx="2606040" cy="54864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8" name="Text 16"/>
          <p:cNvSpPr/>
          <p:nvPr/>
        </p:nvSpPr>
        <p:spPr>
          <a:xfrm>
            <a:off x="6217920" y="2542032"/>
            <a:ext cx="2606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&lt; 50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217920" y="2834640"/>
            <a:ext cx="26060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❌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9 Data Sources cho Niche Research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3840480" cy="3200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32004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Tools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520440" cy="274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Search Bar — Autocomplete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Bestsellers — Category cụ thể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Reviews — Pain points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Trends — Trend data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Pinterest Trends — Visual niches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Etsy — Trend ngoài Amazon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4114800" cy="3200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822960"/>
            <a:ext cx="54864" cy="32004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2" name="Text 10"/>
          <p:cNvSpPr/>
          <p:nvPr/>
        </p:nvSpPr>
        <p:spPr>
          <a:xfrm>
            <a:off x="47548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Tools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1207008"/>
            <a:ext cx="3794760" cy="274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 Rocket ($199) — Lifetime ⭐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KDSPY ($129) — Lifetime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Helium 10 ($39/m) — Full SEO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Free Method: Amazon Autocomplete Hack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5029200" cy="201168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8" name="Text 5"/>
          <p:cNvSpPr/>
          <p:nvPr/>
        </p:nvSpPr>
        <p:spPr>
          <a:xfrm>
            <a:off x="594360" y="987552"/>
            <a:ext cx="4754880" cy="18653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 vào Amazon search bar: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"coloring book for ___" → A, B, C, D...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"sudoku for ___"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"journal for ___"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"activity book for ___"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Mỗi gợi ý = keyword có demand thực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5760720" y="914400"/>
            <a:ext cx="2926080" cy="20116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60720" y="914400"/>
            <a:ext cx="54864" cy="20116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1" name="Text 8"/>
          <p:cNvSpPr/>
          <p:nvPr/>
        </p:nvSpPr>
        <p:spPr>
          <a:xfrm>
            <a:off x="5943600" y="98755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ví dụ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943600" y="1298448"/>
            <a:ext cx="2606040" cy="1554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 8-12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dementia patients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anxiety relief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50-100 keyword vào spreadsheet → chọn lọc sau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Free Method: Best Seller Rank Mining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3716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13716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down Amazon Bestsellers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amazon.com/Best-Sellers-Books/zgbs/books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→ Crafts &amp; Hobbies → Drawing → Coloring Books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100 bestseller → xem niche pattern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solidFill>
            <a:srgbClr val="22C55E">
              <a:alpha val="15000"/>
            </a:srgbClr>
          </a:solidFill>
        </p:spPr>
      </p:sp>
      <p:sp>
        <p:nvSpPr>
          <p:cNvPr id="11" name="Text 9"/>
          <p:cNvSpPr/>
          <p:nvPr/>
        </p:nvSpPr>
        <p:spPr>
          <a:xfrm>
            <a:off x="640080" y="246888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Sách BSR 50K-200K mà reviews &lt; 50 = OPPORTUNITY 🌟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Paid Tool Demo: Publisher Rocket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7" name="Text 5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3840480" cy="10058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54864" cy="10058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0" name="Text 8"/>
          <p:cNvSpPr/>
          <p:nvPr/>
        </p:nvSpPr>
        <p:spPr>
          <a:xfrm>
            <a:off x="640080" y="141732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Search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182880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+ Competition score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60320"/>
            <a:ext cx="3840480" cy="10058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57200" y="2560320"/>
            <a:ext cx="54864" cy="10058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4" name="Text 12"/>
          <p:cNvSpPr/>
          <p:nvPr/>
        </p:nvSpPr>
        <p:spPr>
          <a:xfrm>
            <a:off x="640080" y="260604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Search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0175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Tìm category yếu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0" y="1371600"/>
            <a:ext cx="3840480" cy="10058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0" y="1371600"/>
            <a:ext cx="54864" cy="10058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8" name="Text 16"/>
          <p:cNvSpPr/>
          <p:nvPr/>
        </p:nvSpPr>
        <p:spPr>
          <a:xfrm>
            <a:off x="4754880" y="141732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Analyzer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754880" y="182880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top 10 cho keyword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0" y="2560320"/>
            <a:ext cx="3840480" cy="10058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0" y="2560320"/>
            <a:ext cx="54864" cy="10058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22" name="Text 20"/>
          <p:cNvSpPr/>
          <p:nvPr/>
        </p:nvSpPr>
        <p:spPr>
          <a:xfrm>
            <a:off x="4754880" y="2606040"/>
            <a:ext cx="3474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AMS Keyword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754880" y="3017520"/>
            <a:ext cx="3474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 cho Amazon Ads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Demo: Phân tích Niche từ A-Z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777240"/>
            <a:ext cx="4572000" cy="320040"/>
          </a:xfrm>
          <a:prstGeom prst="rect">
            <a:avLst/>
          </a:prstGeom>
          <a:solidFill>
            <a:srgbClr val="F5A623">
              <a:alpha val="20000"/>
            </a:srgbClr>
          </a:solidFill>
        </p:spPr>
      </p:sp>
      <p:sp>
        <p:nvSpPr>
          <p:cNvPr id="7" name="Text 5"/>
          <p:cNvSpPr/>
          <p:nvPr/>
        </p:nvSpPr>
        <p:spPr>
          <a:xfrm>
            <a:off x="548640" y="777240"/>
            <a:ext cx="45720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thử: "Sudoku for Seniors Large Print"</a:t>
            </a:r>
            <a:endParaRPr lang="en-US" sz="13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/>
        </p:nvGraphicFramePr>
        <p:xfrm>
          <a:off x="457200" y="1234440"/>
          <a:ext cx="8229600" cy="1828800"/>
        </p:xfrm>
        <a:graphic>
          <a:graphicData uri="http://schemas.openxmlformats.org/drawingml/2006/table">
            <a:tbl>
              <a:tblPr/>
              <a:tblGrid>
                <a:gridCol w="1371600"/>
                <a:gridCol w="1828800"/>
                <a:gridCol w="1828800"/>
                <a:gridCol w="1828800"/>
                <a:gridCol w="137160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5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10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Kết luận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BSR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 OK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2,500 ❌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✅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✅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Cạnh tranh vừa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 tốt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3200400" y="3108960"/>
            <a:ext cx="2743200" cy="11887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200400" y="3154680"/>
            <a:ext cx="2743200" cy="653796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73</a:t>
            </a:r>
            <a:endParaRPr lang="en-US" sz="2800" dirty="0"/>
          </a:p>
        </p:txBody>
      </p:sp>
      <p:sp>
        <p:nvSpPr>
          <p:cNvPr id="11" name="Text 8"/>
          <p:cNvSpPr/>
          <p:nvPr/>
        </p:nvSpPr>
        <p:spPr>
          <a:xfrm>
            <a:off x="3200400" y="3762756"/>
            <a:ext cx="2743200" cy="475488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 Score = HOT 🔥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Niche Validation Checklist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Text 4"/>
          <p:cNvSpPr/>
          <p:nvPr/>
        </p:nvSpPr>
        <p:spPr>
          <a:xfrm>
            <a:off x="640080" y="914400"/>
            <a:ext cx="7863840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Demand: top 10 có ≥ 5 cuốn BSR &lt; 200,000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Competition: ít nhất 3 cuốn top 10 có &lt; 100 reviews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Profit: avg price ≥ $7.99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Page count khả thi: &lt; 100 trang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Bạn đủ skill/tool để tạo content niche này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Không vi phạm trademark/brand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Không seasonal quá hẹp (Halloween-only = chỉ bán 2 tháng)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Kill List — KHÔNG CHỌN niche nào?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9" name="Text 6"/>
          <p:cNvSpPr/>
          <p:nvPr/>
        </p:nvSpPr>
        <p:spPr>
          <a:xfrm>
            <a:off x="640080" y="91440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"Adult coloring book"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297680" y="914400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ocean — quá cạnh tranh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50876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2" name="Shape 9"/>
          <p:cNvSpPr/>
          <p:nvPr/>
        </p:nvSpPr>
        <p:spPr>
          <a:xfrm>
            <a:off x="457200" y="150876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3" name="Text 10"/>
          <p:cNvSpPr/>
          <p:nvPr/>
        </p:nvSpPr>
        <p:spPr>
          <a:xfrm>
            <a:off x="640080" y="150876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"Mandala" generic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297680" y="1508760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Saturated — hàng triệu kết quả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21031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6" name="Shape 13"/>
          <p:cNvSpPr/>
          <p:nvPr/>
        </p:nvSpPr>
        <p:spPr>
          <a:xfrm>
            <a:off x="457200" y="210312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7" name="Text 14"/>
          <p:cNvSpPr/>
          <p:nvPr/>
        </p:nvSpPr>
        <p:spPr>
          <a:xfrm>
            <a:off x="640080" y="210312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Cartoon characters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297680" y="2103120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Disney/Pixar — copyright violation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69748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0" name="Shape 17"/>
          <p:cNvSpPr/>
          <p:nvPr/>
        </p:nvSpPr>
        <p:spPr>
          <a:xfrm>
            <a:off x="457200" y="269748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1" name="Text 18"/>
          <p:cNvSpPr/>
          <p:nvPr/>
        </p:nvSpPr>
        <p:spPr>
          <a:xfrm>
            <a:off x="640080" y="269748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"Bible verses coloring"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297680" y="2697480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Oversaturated — margins thấp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457200" y="329184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4" name="Shape 21"/>
          <p:cNvSpPr/>
          <p:nvPr/>
        </p:nvSpPr>
        <p:spPr>
          <a:xfrm>
            <a:off x="457200" y="329184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5" name="Text 22"/>
          <p:cNvSpPr/>
          <p:nvPr/>
        </p:nvSpPr>
        <p:spPr>
          <a:xfrm>
            <a:off x="640080" y="329184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Niche &lt; 30 sales/tháng top 1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297680" y="3291840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demand — không đáng effort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" y="388620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8" name="Shape 25"/>
          <p:cNvSpPr/>
          <p:nvPr/>
        </p:nvSpPr>
        <p:spPr>
          <a:xfrm>
            <a:off x="457200" y="388620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9" name="Text 26"/>
          <p:cNvSpPr/>
          <p:nvPr/>
        </p:nvSpPr>
        <p:spPr>
          <a:xfrm>
            <a:off x="640080" y="3886200"/>
            <a:ext cx="34747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Niche top 1 BSR &lt; 5,000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Whale — không cạnh tranh nổi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50 Niche Ideas — Demo Brainstorm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384048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92608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Coloring &amp; Puzzle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520440" cy="2468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Sudoku Large Print Seniors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Kawaii Cat Café Coloring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Dot-to-Dot Adults Travel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Mindful Mandala for Anxiety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 Tracker Journal Minimalist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Pregnancy Journal Week-by-Week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411480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822960"/>
            <a:ext cx="54864" cy="2926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2" name="Text 10"/>
          <p:cNvSpPr/>
          <p:nvPr/>
        </p:nvSpPr>
        <p:spPr>
          <a:xfrm>
            <a:off x="47548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&amp; Planner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1207008"/>
            <a:ext cx="3794760" cy="2468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Setting Planner ADHD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Search Bible Large Print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Fishing Log Book for Dad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Gratitude Journal Teen Boys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Flower Garden Coloring Seniors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 Games Memory Focus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+ 38 more niches trong tài liệu khóa học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Workshop: Niche Hunting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777240"/>
            <a:ext cx="1463040" cy="32004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7" name="Text 5"/>
          <p:cNvSpPr/>
          <p:nvPr/>
        </p:nvSpPr>
        <p:spPr>
          <a:xfrm>
            <a:off x="457200" y="777240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WORKSHOP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103120" y="777240"/>
            <a:ext cx="64008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tiêu: Có 5 niche shortlist có Opportunity Score ≥ 60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1280160"/>
            <a:ext cx="7863840" cy="3474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Mở Amazon, dùng autocomplete + bestseller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Note 20 niche idea raw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Apply validation checklist → loại 15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5 niche còn lại: tính Opportunity Score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Note vào Google Sheet (template provided)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Niche Tracking Sheet Template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41" name="Table 0"/>
          <p:cNvGraphicFramePr>
            <a:graphicFrameLocks noGrp="1"/>
          </p:cNvGraphicFramePr>
          <p:nvPr/>
        </p:nvGraphicFramePr>
        <p:xfrm>
          <a:off x="274320" y="822960"/>
          <a:ext cx="8595360" cy="2468880"/>
        </p:xfrm>
        <a:graphic>
          <a:graphicData uri="http://schemas.openxmlformats.org/drawingml/2006/table">
            <a:tbl>
              <a:tblPr/>
              <a:tblGrid>
                <a:gridCol w="457200"/>
                <a:gridCol w="2011680"/>
                <a:gridCol w="1097280"/>
                <a:gridCol w="1188720"/>
                <a:gridCol w="1097280"/>
                <a:gridCol w="914400"/>
                <a:gridCol w="822960"/>
                <a:gridCol w="1005840"/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Niche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 BSR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10 BSR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Reviews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Sudoku Seniors LP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 Café Coloring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Brain Games Elderly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(Bạn điền)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(Bạn điền)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Google Sheet sẽ được share trong group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Tổng kết Day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Hiểu KDP business model + royalty math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Account KDP active, tax submitted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Có 5 niche shortlist với Opportunity Score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Hiểu Blue Ocean framework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Homework Day 1 → Day 2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Text 4"/>
          <p:cNvSpPr/>
          <p:nvPr/>
        </p:nvSpPr>
        <p:spPr>
          <a:xfrm>
            <a:off x="640080" y="914400"/>
            <a:ext cx="7863840" cy="3200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Hoàn tất account nếu chưa xong (deadline 9PM tối nay)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Đào sâu 5 niche → chọn 1 niche làm sách thật ngày 2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Mua tool (optional): Publisher Rocket / KDSPY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Đọc bài: "10 Mistakes New KDP Publishers Make"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Chuẩn bị máy tính có Photoshop/GIMP/Canva (Day 2 cần)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Ngủ trước 10PM — mai 5AM lại gặp!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F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Q&amp;A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94A3B8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Câu hỏi nào cũng OK — đặc biệt câu 'ngu ngơ'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31089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mic 5 phút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Shape 1"/>
          <p:cNvSpPr/>
          <p:nvPr/>
        </p:nvSpPr>
        <p:spPr>
          <a:xfrm>
            <a:off x="548640" y="914400"/>
            <a:ext cx="1645920" cy="5029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4" name="Text 2"/>
          <p:cNvSpPr/>
          <p:nvPr/>
        </p:nvSpPr>
        <p:spPr>
          <a:xfrm>
            <a:off x="548640" y="914400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DAY 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8046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PRODUCTION &amp; LISTING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5A623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"Done is better than perfect"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Sản xuất sách &amp; Upload lên KDP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9" name="Text 7"/>
          <p:cNvSpPr/>
          <p:nvPr/>
        </p:nvSpPr>
        <p:spPr>
          <a:xfrm>
            <a:off x="548640" y="464058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Tony Trieu — KDP 5AM Club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Day 1 Recap + Homework Check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poll: ai có 5 niche shortlist? Ai chọn được niche cho ngày 2?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3 best niche từ học viên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issues: account verify, tax stuck</a:t>
            </a:r>
            <a:endParaRPr lang="en-US" sz="14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Day 2 — Agenda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47" name="Table 0"/>
          <p:cNvGraphicFramePr>
            <a:graphicFrameLocks noGrp="1"/>
          </p:cNvGraphicFramePr>
          <p:nvPr/>
        </p:nvGraphicFramePr>
        <p:xfrm>
          <a:off x="457200" y="868680"/>
          <a:ext cx="8229600" cy="3072384"/>
        </p:xfrm>
        <a:graphic>
          <a:graphicData uri="http://schemas.openxmlformats.org/drawingml/2006/table">
            <a:tbl>
              <a:tblPr/>
              <a:tblGrid>
                <a:gridCol w="1828800"/>
                <a:gridCol w="5029200"/>
                <a:gridCol w="1371600"/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Thời gian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Nội dung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0:00-0:05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Recap + Homework check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0:05-0:20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Anatomy of a KDP Book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0:20-0:40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Tools Stack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0:40-1:20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Demo: Tạo Interior + Cover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1:20-1:45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SEO Deep Dive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1:45-1:55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KDP Upload Step-by-Step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1:55-2:00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Workshop + Q&amp;A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3 Thành phần một sách KDP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260604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14400"/>
            <a:ext cx="2606040" cy="54864"/>
          </a:xfrm>
          <a:prstGeom prst="rect">
            <a:avLst/>
          </a:prstGeom>
          <a:solidFill>
            <a:srgbClr val="3B82F6"/>
          </a:solidFill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188720"/>
            <a:ext cx="457200" cy="457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4360" y="1783080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PDF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94360" y="2194560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bên trong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(manuscript)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37560" y="914400"/>
            <a:ext cx="260604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37560" y="914400"/>
            <a:ext cx="2606040" cy="54864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1887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74720" y="1783080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PDF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474720" y="2194560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Bìa full wrap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(front + spine + back)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914400"/>
            <a:ext cx="260604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217920" y="914400"/>
            <a:ext cx="2606040" cy="54864"/>
          </a:xfrm>
          <a:prstGeom prst="rect">
            <a:avLst/>
          </a:prstGeom>
          <a:solidFill>
            <a:srgbClr val="22C55E"/>
          </a:solidFill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188720"/>
            <a:ext cx="457200" cy="457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55080" y="1783080"/>
            <a:ext cx="2331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6355080" y="2194560"/>
            <a:ext cx="23317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keywords, categories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 review cả 3 thành phần — 1 sai = reject</a:t>
            </a:r>
            <a:endParaRPr lang="en-US" sz="13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Trim Size — Chọn kích thước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49" name="Table 0"/>
          <p:cNvGraphicFramePr>
            <a:graphicFrameLocks noGrp="1"/>
          </p:cNvGraphicFramePr>
          <p:nvPr/>
        </p:nvGraphicFramePr>
        <p:xfrm>
          <a:off x="457200" y="868680"/>
          <a:ext cx="8229600" cy="22860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2468880"/>
                <a:gridCol w="228600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Inch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Phù hợp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Ghi chú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6×9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15.24×22.86cm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Novel, journal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text-heavy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8.5×11 ⭐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21.59×27.94cm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Coloring, Activity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 popular low-content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8.5×8.5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21.59×21.59cm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Square coloring kids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Khuyến nghị cho kids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7×10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17.78×25.4cm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Workbook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Compact, save cost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Khóa học default: 8.5×11 portrait (phù hợp 90% low-content)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Page Count Rules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24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 pages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032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828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pages (B&amp;W)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79+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66344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Spine text min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6656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6656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60-100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76656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spot newbie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286000"/>
            <a:ext cx="8229600" cy="16459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2286000"/>
            <a:ext cx="54864" cy="1645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0" name="Text 18"/>
          <p:cNvSpPr/>
          <p:nvPr/>
        </p:nvSpPr>
        <p:spPr>
          <a:xfrm>
            <a:off x="640080" y="235915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 quan trọng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2670048"/>
            <a:ext cx="7909560" cy="11887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page count BẮT BUỘC (nếu lẻ → KDP reject)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Spine text chỉ khi ≥ 79 trang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max 590 trang, B&amp;W max 828 trang</a:t>
            </a:r>
            <a:endParaRPr lang="en-US" sz="11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Margins &amp; Bleed (KDP Rules)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411480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18288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79476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margin: 0.25" tối thiểu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Top/Bottom: 0.25" tối thiểu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Bleed: 0.125" mỗi cạnh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822960"/>
            <a:ext cx="384048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822960"/>
            <a:ext cx="54864" cy="18288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2" name="Text 10"/>
          <p:cNvSpPr/>
          <p:nvPr/>
        </p:nvSpPr>
        <p:spPr>
          <a:xfrm>
            <a:off x="502920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margin (Gutter)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207008"/>
            <a:ext cx="352044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24-150 trang: 0.375"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151-300 trang: 0.5"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301-500 trang: 0.625"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701+ trang: 0.875"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Trong khóa học: dùng template 8.5×11 đã pre-set margin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Cover Anatomy (Full Wrap)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82880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16824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Width  = (Trim Width × 2) + Spine Width + (Bleed × 2)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Height = Trim Height + (Bleed × 2)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Spine  = Page count × 0.002252" (B&amp;W white paper)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Ví dụ 100 trang 8.5×11: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Spine  = 100 × 0.002252 = 0.2252"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Width  = (8.5 × 2) + 0.2252 + 0.25 = 17.4752"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Height = 11 + 0.25 = 11.25"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DPI &amp; Image Quality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457200" y="96012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300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457200" y="151790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 minimum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46120" y="91440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246120" y="96012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PNG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3246120" y="151790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tốt nhất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035040" y="91440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035040" y="96012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CMYK</a:t>
            </a:r>
            <a:endParaRPr lang="en-US" sz="2800" dirty="0"/>
          </a:p>
        </p:txBody>
      </p:sp>
      <p:sp>
        <p:nvSpPr>
          <p:cNvPr id="15" name="Text 12"/>
          <p:cNvSpPr/>
          <p:nvPr/>
        </p:nvSpPr>
        <p:spPr>
          <a:xfrm>
            <a:off x="6035040" y="151790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mode preferred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57200" y="2286000"/>
            <a:ext cx="54864" cy="137160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8" name="Text 15"/>
          <p:cNvSpPr/>
          <p:nvPr/>
        </p:nvSpPr>
        <p:spPr>
          <a:xfrm>
            <a:off x="640080" y="235915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ý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0080" y="2670048"/>
            <a:ext cx="790956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 DPI (web) = REJECT ngay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transparency — flatten trước khi export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JPG chất lượng cao cũng OK</a:t>
            </a:r>
            <a:endParaRPr lang="en-US" sz="11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Interior Structure (Chuẩn)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Shape 5"/>
          <p:cNvSpPr/>
          <p:nvPr/>
        </p:nvSpPr>
        <p:spPr>
          <a:xfrm>
            <a:off x="457200" y="914400"/>
            <a:ext cx="54864" cy="64008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8" name="Text 6"/>
          <p:cNvSpPr/>
          <p:nvPr/>
        </p:nvSpPr>
        <p:spPr>
          <a:xfrm>
            <a:off x="731520" y="914400"/>
            <a:ext cx="1828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560320" y="914400"/>
            <a:ext cx="5943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page (Title + Author)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2" name="Text 10"/>
          <p:cNvSpPr/>
          <p:nvPr/>
        </p:nvSpPr>
        <p:spPr>
          <a:xfrm>
            <a:off x="731520" y="1691640"/>
            <a:ext cx="1828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560320" y="1691640"/>
            <a:ext cx="5943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Copyright page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5" name="Shape 13"/>
          <p:cNvSpPr/>
          <p:nvPr/>
        </p:nvSpPr>
        <p:spPr>
          <a:xfrm>
            <a:off x="457200" y="2468880"/>
            <a:ext cx="54864" cy="64008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6" name="Text 14"/>
          <p:cNvSpPr/>
          <p:nvPr/>
        </p:nvSpPr>
        <p:spPr>
          <a:xfrm>
            <a:off x="731520" y="2468880"/>
            <a:ext cx="1828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3-N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560320" y="2468880"/>
            <a:ext cx="5943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pages (coloring/sudoku...)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Shape 17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20" name="Text 18"/>
          <p:cNvSpPr/>
          <p:nvPr/>
        </p:nvSpPr>
        <p:spPr>
          <a:xfrm>
            <a:off x="731520" y="3246120"/>
            <a:ext cx="1828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Trang N+1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560320" y="3246120"/>
            <a:ext cx="5943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/ Note from author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count phải EVEN — thêm blank page nếu cần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Top 10 Lý do bị KDP Reject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Shape 5"/>
          <p:cNvSpPr/>
          <p:nvPr/>
        </p:nvSpPr>
        <p:spPr>
          <a:xfrm>
            <a:off x="457200" y="91440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8" name="Text 6"/>
          <p:cNvSpPr/>
          <p:nvPr/>
        </p:nvSpPr>
        <p:spPr>
          <a:xfrm>
            <a:off x="457200" y="91440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91440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mismatch (title cover ≠ title listing)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55448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1" name="Shape 9"/>
          <p:cNvSpPr/>
          <p:nvPr/>
        </p:nvSpPr>
        <p:spPr>
          <a:xfrm>
            <a:off x="457200" y="155448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2" name="Text 10"/>
          <p:cNvSpPr/>
          <p:nvPr/>
        </p:nvSpPr>
        <p:spPr>
          <a:xfrm>
            <a:off x="457200" y="155448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14400" y="155448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Spine text khi page count &lt; 79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219456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5" name="Shape 13"/>
          <p:cNvSpPr/>
          <p:nvPr/>
        </p:nvSpPr>
        <p:spPr>
          <a:xfrm>
            <a:off x="457200" y="219456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6" name="Text 14"/>
          <p:cNvSpPr/>
          <p:nvPr/>
        </p:nvSpPr>
        <p:spPr>
          <a:xfrm>
            <a:off x="457200" y="219456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14400" y="219456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Margins/bleed sai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283464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Shape 17"/>
          <p:cNvSpPr/>
          <p:nvPr/>
        </p:nvSpPr>
        <p:spPr>
          <a:xfrm>
            <a:off x="457200" y="283464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0" name="Text 18"/>
          <p:cNvSpPr/>
          <p:nvPr/>
        </p:nvSpPr>
        <p:spPr>
          <a:xfrm>
            <a:off x="457200" y="283464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283464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DPI &lt; 300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47472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3" name="Shape 21"/>
          <p:cNvSpPr/>
          <p:nvPr/>
        </p:nvSpPr>
        <p:spPr>
          <a:xfrm>
            <a:off x="457200" y="347472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4" name="Text 22"/>
          <p:cNvSpPr/>
          <p:nvPr/>
        </p:nvSpPr>
        <p:spPr>
          <a:xfrm>
            <a:off x="457200" y="347472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5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14400" y="347472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count lẻ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0" y="91440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7" name="Shape 25"/>
          <p:cNvSpPr/>
          <p:nvPr/>
        </p:nvSpPr>
        <p:spPr>
          <a:xfrm>
            <a:off x="4572000" y="91440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8" name="Text 26"/>
          <p:cNvSpPr/>
          <p:nvPr/>
        </p:nvSpPr>
        <p:spPr>
          <a:xfrm>
            <a:off x="4572000" y="91440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6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029200" y="91440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dimensions sai (spine math wrong)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572000" y="155448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31" name="Shape 29"/>
          <p:cNvSpPr/>
          <p:nvPr/>
        </p:nvSpPr>
        <p:spPr>
          <a:xfrm>
            <a:off x="4572000" y="155448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32" name="Text 30"/>
          <p:cNvSpPr/>
          <p:nvPr/>
        </p:nvSpPr>
        <p:spPr>
          <a:xfrm>
            <a:off x="4572000" y="155448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7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029200" y="155448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marks / annotations trong PDF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0" y="219456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35" name="Shape 33"/>
          <p:cNvSpPr/>
          <p:nvPr/>
        </p:nvSpPr>
        <p:spPr>
          <a:xfrm>
            <a:off x="4572000" y="219456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36" name="Text 34"/>
          <p:cNvSpPr/>
          <p:nvPr/>
        </p:nvSpPr>
        <p:spPr>
          <a:xfrm>
            <a:off x="4572000" y="219456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8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029200" y="219456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 terms trong metadata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2000" y="283464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39" name="Shape 37"/>
          <p:cNvSpPr/>
          <p:nvPr/>
        </p:nvSpPr>
        <p:spPr>
          <a:xfrm>
            <a:off x="4572000" y="283464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40" name="Text 38"/>
          <p:cNvSpPr/>
          <p:nvPr/>
        </p:nvSpPr>
        <p:spPr>
          <a:xfrm>
            <a:off x="4572000" y="283464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9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0" y="283464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Trademark violation (cartoon characters)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0" y="3474720"/>
            <a:ext cx="3931920" cy="53035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43" name="Shape 41"/>
          <p:cNvSpPr/>
          <p:nvPr/>
        </p:nvSpPr>
        <p:spPr>
          <a:xfrm>
            <a:off x="4572000" y="3474720"/>
            <a:ext cx="365760" cy="530352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44" name="Text 42"/>
          <p:cNvSpPr/>
          <p:nvPr/>
        </p:nvSpPr>
        <p:spPr>
          <a:xfrm>
            <a:off x="4572000" y="3474720"/>
            <a:ext cx="36576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10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029200" y="3474720"/>
            <a:ext cx="3383280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ISBN trên cover ≠ ISBN trong KDP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Tools Map — Production Stack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274320" y="822960"/>
            <a:ext cx="274320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822960"/>
            <a:ext cx="54864" cy="292608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" name="Text 6"/>
          <p:cNvSpPr/>
          <p:nvPr/>
        </p:nvSpPr>
        <p:spPr>
          <a:xfrm>
            <a:off x="457200" y="896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Stack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207008"/>
            <a:ext cx="2423160" cy="2468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 Free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GIMP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 Image Creator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Leonardo.ai (free credits)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Sudoku.com generator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822960"/>
            <a:ext cx="274320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822960"/>
            <a:ext cx="54864" cy="292608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2" name="Text 10"/>
          <p:cNvSpPr/>
          <p:nvPr/>
        </p:nvSpPr>
        <p:spPr>
          <a:xfrm>
            <a:off x="3383280" y="896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Stack ($50-100)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1207008"/>
            <a:ext cx="2423160" cy="2468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 Pro ($12/m)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Affinity Publisher ($70)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Midjourney ($10/m)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Nano Banana Pro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26480" y="822960"/>
            <a:ext cx="274320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822960"/>
            <a:ext cx="54864" cy="292608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16" name="Text 14"/>
          <p:cNvSpPr/>
          <p:nvPr/>
        </p:nvSpPr>
        <p:spPr>
          <a:xfrm>
            <a:off x="6309360" y="896112"/>
            <a:ext cx="24688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Stack ($200+)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09360" y="1207008"/>
            <a:ext cx="2423160" cy="2468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 InDesign ($55/m)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Photoshop ($23/m)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access (Anthropic)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pipelines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Tool theo Loại sách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57" name="Table 0"/>
          <p:cNvGraphicFramePr>
            <a:graphicFrameLocks noGrp="1"/>
          </p:cNvGraphicFramePr>
          <p:nvPr/>
        </p:nvGraphicFramePr>
        <p:xfrm>
          <a:off x="457200" y="868680"/>
          <a:ext cx="8229600" cy="2743200"/>
        </p:xfrm>
        <a:graphic>
          <a:graphicData uri="http://schemas.openxmlformats.org/drawingml/2006/table">
            <a:tbl>
              <a:tblPr/>
              <a:tblGrid>
                <a:gridCol w="2286000"/>
                <a:gridCol w="3657600"/>
                <a:gridCol w="228600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Loại sách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chính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Time/sách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Coloring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image gen + Canva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4-6h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Sudoku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Generator script + Canva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Journal/Planner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Canva templates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2-3h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Activity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 tools + Canva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6-10h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Word Search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Generator + Canva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AI Image Generation cho Coloring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58" name="Table 0"/>
          <p:cNvGraphicFramePr>
            <a:graphicFrameLocks noGrp="1"/>
          </p:cNvGraphicFramePr>
          <p:nvPr/>
        </p:nvGraphicFramePr>
        <p:xfrm>
          <a:off x="457200" y="868680"/>
          <a:ext cx="8229600" cy="2304288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286000"/>
                <a:gridCol w="1828800"/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Giá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Ưu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Nhược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Midjourney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$10/m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Chất lượng cao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curve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Nano Banana Pro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Free+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Rẻ, fast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Cần token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Bing Image Creator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Dễ dùng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Chất lượng TB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Leonardo.ai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 150/ngày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Nhiều style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Giới hạn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DALL-E 3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$20/m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Dễ dùng nhất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Chậm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36576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 học demo: Nano Banana Pro (free + chất lượng tốt cho coloring)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Prompt Engineering — Coloring (Adults)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64592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14996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coloring book page for adults, [SUBJECT],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black and white line art, clean bold outlines,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medium detail, kawaii cute proportions,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layered foreground/midground/background,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border, NO frame, NO enclosing rectangle,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white background, printable on 8.5x11 paper, 300 DPI.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651760"/>
            <a:ext cx="8229600" cy="457200"/>
          </a:xfrm>
          <a:prstGeom prst="rect">
            <a:avLst/>
          </a:prstGeom>
          <a:solidFill>
            <a:srgbClr val="F59E0B">
              <a:alpha val="20000"/>
            </a:srgbClr>
          </a:solidFill>
        </p:spPr>
      </p:sp>
      <p:sp>
        <p:nvSpPr>
          <p:cNvPr id="9" name="Text 7"/>
          <p:cNvSpPr/>
          <p:nvPr/>
        </p:nvSpPr>
        <p:spPr>
          <a:xfrm>
            <a:off x="640080" y="2651760"/>
            <a:ext cx="78638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 "NO border / NO frame" — PHẢI CÓ, AI rất hay tự vẽ frame</a:t>
            </a:r>
            <a:endParaRPr lang="en-US" sz="1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Prompt Engineering — Coloring (Kids 6-12)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13167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coloring book page for kids age 6-12, [SUBJECT],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bold thick clean outlines, single centered subject,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shading, NO gradients, NO complex details,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border, NO frame, NO enclosing rectangle,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white background, simple cartoon style, 300 DPI.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24688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Khác adults: outline DÀY hơn, ít detail hơn, single subject</a:t>
            </a:r>
            <a:endParaRPr lang="en-US" sz="13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Demo: Tạo 30 trang Coloring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7" name="Text 5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280160"/>
            <a:ext cx="8229600" cy="82296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9" name="Text 7"/>
          <p:cNvSpPr/>
          <p:nvPr/>
        </p:nvSpPr>
        <p:spPr>
          <a:xfrm>
            <a:off x="594360" y="1353312"/>
            <a:ext cx="7955280" cy="67665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scripts/generate_images.py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--plan output/cozy_cat_cafe/plan.json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--count 30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2860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.env với NANOPIC_ACCESS_TOKEN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plan.json với 30 prompts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script → 30 images xuất ra images/page_NN.png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nếu fail: --start 15 (skip 1-14)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check: review 5 random pages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Sudoku Generator (Built-in Script)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859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scripts/generate_sudoku.py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--count 100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--difficulty mixed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--output output/sudoku_seniors_lp/puzzles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786384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puzzle 9×9 unique solution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Difficulty: easy/medium/hard/expert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PNG + JSON solutions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Built-in: backtracking + uniqueness verifier</a:t>
            </a:r>
            <a:endParaRPr lang="en-US" sz="13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Build Interior PDF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859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scripts/build_pdf.py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--theme cozy_cat_cafe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--author "BoBo Art"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--size 8.5x11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8229600" cy="20116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011680"/>
            <a:ext cx="54864" cy="201168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0" name="Text 8"/>
          <p:cNvSpPr/>
          <p:nvPr/>
        </p:nvSpPr>
        <p:spPr>
          <a:xfrm>
            <a:off x="640080" y="208483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features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395728"/>
            <a:ext cx="7909560" cy="15544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page + copyright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Interleave images với blank backs (odd = coloring, even = blank)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Thank-you page cuối sách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page count enforce (thêm blank nếu lẻ)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margin scale theo page count</a:t>
            </a:r>
            <a:endParaRPr lang="en-US" sz="11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Build Cover PDF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9509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scripts/generate_cover.py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--theme cozy_cat_cafe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--author "BoBo Art"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--kdp-width 17.4752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--kdp-height 11.25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822960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2103120"/>
            <a:ext cx="54864" cy="18288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0" name="Text 8"/>
          <p:cNvSpPr/>
          <p:nvPr/>
        </p:nvSpPr>
        <p:spPr>
          <a:xfrm>
            <a:off x="640080" y="217627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features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487168"/>
            <a:ext cx="790956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front art (AI) + composite spine + back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front_artwork.png (reuse cho rebuild — tiết kiệm $$)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cover.pdf ready upload</a:t>
            </a:r>
            <a:endParaRPr lang="en-US" sz="11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QC trước khi Upload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859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scripts/pdf_qc.py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--pdf output/cozy_cat_cafe/interior.pdf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--trim 8.5x11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--require-even-pages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201168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Trim size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251460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Bleed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301752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Even pages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0" y="201168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Line weight ≥ 0.75pt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0" y="251460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DPI ≥ 300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0" y="301752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No annotations/crop marks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= ready upload. Fail = fix theo error message.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Demo: Tạo 1 Sách End-to-End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7" name="Text 5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1920240" cy="914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41732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Sudoku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187452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Niche: Large Print Seniors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371600"/>
            <a:ext cx="1920240" cy="914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60320" y="141732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8.5×11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560320" y="187452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Size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914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63440" y="141732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124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663440" y="187452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66560" y="1371600"/>
            <a:ext cx="1920240" cy="914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66560" y="141732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35'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766560" y="187452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target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Step 1: Plan.json (5')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859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scripts/plan_book.py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--concept "Large Print Sudoku for Seniors"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--audience seniors --pages 60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--theme-key large_print_sudoku_seniors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786384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plan.json với title, subtitle, description, 7 keywords, 2 categories, 60 page prompts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Step 2: Generate Sudoku Puzzles (5')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859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scripts/generate_sudoku.py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--book-dir output/large_print_sudoku_seniors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--count 60 --difficulty progressive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786384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puzzles từ easy → expert (progressive), output: puzzles/p01.json...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Step 3: Build Interior PDF (5')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859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scripts/build_sudoku_book.py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--theme large_print_sudoku_seniors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--author "BoBo Brain"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786384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+ Copyright + How to play + 60 puzzles + Solutions + Thank-you = 124 pages (even ✅)</a:t>
            </a:r>
            <a:endParaRPr lang="en-US" sz="13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Step 4: Generate Cover (10')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859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scripts/generate_cover.py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--theme large_print_sudoku_seniors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--author "BoBo Brain"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786384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front art → Spine auto: 124 × 0.002252 = 0.279" → Full wrap: 17.529 × 11.25"</a:t>
            </a:r>
            <a:endParaRPr lang="en-US" sz="13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Step 5: QC Pre-flight (5')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0058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8595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scripts/pdf_qc.py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--pdf output/large_print_sudoku_seniors/interior.pdf \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--trim 8.5x11 --require-even-pages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2011680"/>
            <a:ext cx="786384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Expected: ✅ ALL CHECKS PASSED — nếu fail → debug theo error code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Step 6: Manual Review (5')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3200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Title page đúng tên sách + tên tác giả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Copyright year đúng (2026)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Random check 5 puzzle pages — readable?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Solutions matched với puzzles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Page numbering OK</a:t>
            </a:r>
            <a:endParaRPr lang="en-US" sz="14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Cover front/back/spine align</a:t>
            </a:r>
            <a:endParaRPr lang="en-US" sz="14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Demo Recap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35'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51790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time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246120" y="96012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124p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3246120" y="151790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PDF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35040" y="914400"/>
            <a:ext cx="256032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035040" y="960120"/>
            <a:ext cx="256032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035040" y="1517904"/>
            <a:ext cx="256032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phí (free credits)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Upload lên KDP →</a:t>
            </a:r>
            <a:endParaRPr lang="en-US" sz="18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AI Agent System — Tự Động Hóa Sản Xuất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11887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118872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9" name="Text 6"/>
          <p:cNvSpPr/>
          <p:nvPr/>
        </p:nvSpPr>
        <p:spPr>
          <a:xfrm>
            <a:off x="640080" y="98755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Hệ thống 8 AI Agents hoạt động như 1 công ty xuất bản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1298448"/>
            <a:ext cx="790956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điều phối + 7 trưởng phòng chuyên môn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động: research → production → QC → listing → ads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Dùng /kdp-create-book — chỉ cần nhập concept, agent lo hết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2468880"/>
            <a:ext cx="3931920" cy="14630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2468880"/>
            <a:ext cx="3931920" cy="54864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3" name="Text 10"/>
          <p:cNvSpPr/>
          <p:nvPr/>
        </p:nvSpPr>
        <p:spPr>
          <a:xfrm>
            <a:off x="457200" y="260604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(vừa học)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7200" y="3017520"/>
            <a:ext cx="39319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phút / 1 sách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63440" y="2468880"/>
            <a:ext cx="3931920" cy="14630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663440" y="2468880"/>
            <a:ext cx="3931920" cy="54864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17" name="Text 14"/>
          <p:cNvSpPr/>
          <p:nvPr/>
        </p:nvSpPr>
        <p:spPr>
          <a:xfrm>
            <a:off x="4663440" y="2606040"/>
            <a:ext cx="39319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System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663440" y="3017520"/>
            <a:ext cx="39319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 phút setup → tự chạy</a:t>
            </a:r>
            <a:endParaRPr lang="en-US" sz="13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Cấu trúc công ty AI — 8 Agents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2926080" y="731520"/>
            <a:ext cx="3291840" cy="502920"/>
          </a:xfrm>
          <a:prstGeom prst="rect">
            <a:avLst/>
          </a:prstGeom>
          <a:solidFill>
            <a:srgbClr val="F5A623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2926080" y="731520"/>
            <a:ext cx="329184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— Master Orchestrator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0" y="1234440"/>
            <a:ext cx="0" cy="274320"/>
          </a:xfrm>
          <a:prstGeom prst="line">
            <a:avLst/>
          </a:prstGeom>
          <a:noFill/>
          <a:ln w="25400">
            <a:solidFill>
              <a:srgbClr val="F5A62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70332" y="1554480"/>
            <a:ext cx="2011680" cy="1143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70332" y="1554480"/>
            <a:ext cx="2011680" cy="4572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2" name="Text 9"/>
          <p:cNvSpPr/>
          <p:nvPr/>
        </p:nvSpPr>
        <p:spPr>
          <a:xfrm>
            <a:off x="370332" y="16916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Hunter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370332" y="210312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Nghiên cứu TT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500884" y="1554480"/>
            <a:ext cx="2011680" cy="1143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2500884" y="1554480"/>
            <a:ext cx="2011680" cy="4572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6" name="Text 13"/>
          <p:cNvSpPr/>
          <p:nvPr/>
        </p:nvSpPr>
        <p:spPr>
          <a:xfrm>
            <a:off x="2500884" y="16916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Manuscript Gen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2500884" y="210312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sách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4631436" y="1554480"/>
            <a:ext cx="2011680" cy="1143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631436" y="1554480"/>
            <a:ext cx="2011680" cy="45720"/>
          </a:xfrm>
          <a:prstGeom prst="rect">
            <a:avLst/>
          </a:prstGeom>
          <a:solidFill>
            <a:srgbClr val="FF6B35"/>
          </a:solidFill>
        </p:spPr>
      </p:sp>
      <p:sp>
        <p:nvSpPr>
          <p:cNvPr id="20" name="Text 17"/>
          <p:cNvSpPr/>
          <p:nvPr/>
        </p:nvSpPr>
        <p:spPr>
          <a:xfrm>
            <a:off x="4631436" y="16916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Designer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4631436" y="210312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Thiết kế bìa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6761988" y="1554480"/>
            <a:ext cx="2011680" cy="1143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761988" y="1554480"/>
            <a:ext cx="2011680" cy="4572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24" name="Text 21"/>
          <p:cNvSpPr/>
          <p:nvPr/>
        </p:nvSpPr>
        <p:spPr>
          <a:xfrm>
            <a:off x="6761988" y="16916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Writer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761988" y="210312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Amazon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1435608" y="2971800"/>
            <a:ext cx="2011680" cy="1143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1435608" y="2971800"/>
            <a:ext cx="2011680" cy="457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8" name="Text 25"/>
          <p:cNvSpPr/>
          <p:nvPr/>
        </p:nvSpPr>
        <p:spPr>
          <a:xfrm>
            <a:off x="1435608" y="310896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Reviewer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1435608" y="35204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tra QA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3566160" y="2971800"/>
            <a:ext cx="2011680" cy="1143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3566160" y="2971800"/>
            <a:ext cx="2011680" cy="457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2" name="Text 29"/>
          <p:cNvSpPr/>
          <p:nvPr/>
        </p:nvSpPr>
        <p:spPr>
          <a:xfrm>
            <a:off x="3566160" y="310896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Manager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3566160" y="35204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Quảng cáo SP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696712" y="2971800"/>
            <a:ext cx="2011680" cy="1143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5696712" y="2971800"/>
            <a:ext cx="2011680" cy="4572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36" name="Text 33"/>
          <p:cNvSpPr/>
          <p:nvPr/>
        </p:nvSpPr>
        <p:spPr>
          <a:xfrm>
            <a:off x="5696712" y="310896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5696712" y="35204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data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Pipeline LAUNCH — Từ Concept → Sách Live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274320" y="914400"/>
            <a:ext cx="155448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914400"/>
            <a:ext cx="155448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Shape 6"/>
          <p:cNvSpPr/>
          <p:nvPr/>
        </p:nvSpPr>
        <p:spPr>
          <a:xfrm>
            <a:off x="777240" y="1097280"/>
            <a:ext cx="548640" cy="548640"/>
          </a:xfrm>
          <a:prstGeom prst="ellipse">
            <a:avLst/>
          </a:prstGeom>
          <a:solidFill>
            <a:srgbClr val="3B82F6"/>
          </a:solidFill>
        </p:spPr>
      </p:sp>
      <p:sp>
        <p:nvSpPr>
          <p:cNvPr id="9" name="Text 7"/>
          <p:cNvSpPr/>
          <p:nvPr/>
        </p:nvSpPr>
        <p:spPr>
          <a:xfrm>
            <a:off x="777240" y="10972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274320" y="1828800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Wave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2286000"/>
            <a:ext cx="155448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Manuscript ∥ Listing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(song song)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828800" y="164592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057400" y="914400"/>
            <a:ext cx="155448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57400" y="914400"/>
            <a:ext cx="1554480" cy="54864"/>
          </a:xfrm>
          <a:prstGeom prst="rect">
            <a:avLst/>
          </a:prstGeom>
          <a:solidFill>
            <a:srgbClr val="FF6B35"/>
          </a:solidFill>
        </p:spPr>
      </p:sp>
      <p:sp>
        <p:nvSpPr>
          <p:cNvPr id="15" name="Shape 13"/>
          <p:cNvSpPr/>
          <p:nvPr/>
        </p:nvSpPr>
        <p:spPr>
          <a:xfrm>
            <a:off x="2560320" y="1097280"/>
            <a:ext cx="548640" cy="548640"/>
          </a:xfrm>
          <a:prstGeom prst="ellipse">
            <a:avLst/>
          </a:prstGeom>
          <a:solidFill>
            <a:srgbClr val="FF6B35"/>
          </a:solidFill>
        </p:spPr>
      </p:sp>
      <p:sp>
        <p:nvSpPr>
          <p:cNvPr id="16" name="Text 14"/>
          <p:cNvSpPr/>
          <p:nvPr/>
        </p:nvSpPr>
        <p:spPr>
          <a:xfrm>
            <a:off x="2560320" y="10972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2057400" y="1828800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057400" y="2286000"/>
            <a:ext cx="155448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+ Spine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Back wrap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11880" y="164592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3840480" y="914400"/>
            <a:ext cx="155448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840480" y="914400"/>
            <a:ext cx="1554480" cy="54864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2" name="Shape 20"/>
          <p:cNvSpPr/>
          <p:nvPr/>
        </p:nvSpPr>
        <p:spPr>
          <a:xfrm>
            <a:off x="4343400" y="1097280"/>
            <a:ext cx="548640" cy="548640"/>
          </a:xfrm>
          <a:prstGeom prst="ellipse">
            <a:avLst/>
          </a:prstGeom>
          <a:solidFill>
            <a:srgbClr val="EF4444"/>
          </a:solidFill>
        </p:spPr>
      </p:sp>
      <p:sp>
        <p:nvSpPr>
          <p:cNvPr id="23" name="Text 21"/>
          <p:cNvSpPr/>
          <p:nvPr/>
        </p:nvSpPr>
        <p:spPr>
          <a:xfrm>
            <a:off x="4343400" y="10972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840480" y="1828800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840480" y="2286000"/>
            <a:ext cx="155448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394960" y="164592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5623560" y="914400"/>
            <a:ext cx="155448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623560" y="914400"/>
            <a:ext cx="1554480" cy="54864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29" name="Shape 27"/>
          <p:cNvSpPr/>
          <p:nvPr/>
        </p:nvSpPr>
        <p:spPr>
          <a:xfrm>
            <a:off x="6126480" y="1097280"/>
            <a:ext cx="548640" cy="548640"/>
          </a:xfrm>
          <a:prstGeom prst="ellipse">
            <a:avLst/>
          </a:prstGeom>
          <a:solidFill>
            <a:srgbClr val="22C55E"/>
          </a:solidFill>
        </p:spPr>
      </p:sp>
      <p:sp>
        <p:nvSpPr>
          <p:cNvPr id="30" name="Text 28"/>
          <p:cNvSpPr/>
          <p:nvPr/>
        </p:nvSpPr>
        <p:spPr>
          <a:xfrm>
            <a:off x="6126480" y="10972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5623560" y="1828800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623560" y="2286000"/>
            <a:ext cx="155448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upload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ASIN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7178040" y="1645920"/>
            <a:ext cx="228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7406640" y="914400"/>
            <a:ext cx="155448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406640" y="914400"/>
            <a:ext cx="1554480" cy="54864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6" name="Shape 34"/>
          <p:cNvSpPr/>
          <p:nvPr/>
        </p:nvSpPr>
        <p:spPr>
          <a:xfrm>
            <a:off x="7909560" y="1097280"/>
            <a:ext cx="548640" cy="548640"/>
          </a:xfrm>
          <a:prstGeom prst="ellipse">
            <a:avLst/>
          </a:prstGeom>
          <a:solidFill>
            <a:srgbClr val="F5A623"/>
          </a:solidFill>
        </p:spPr>
      </p:sp>
      <p:sp>
        <p:nvSpPr>
          <p:cNvPr id="37" name="Text 35"/>
          <p:cNvSpPr/>
          <p:nvPr/>
        </p:nvSpPr>
        <p:spPr>
          <a:xfrm>
            <a:off x="7909560" y="1097280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7406640" y="1828800"/>
            <a:ext cx="15544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406640" y="2286000"/>
            <a:ext cx="155448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campaigns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setup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57200" y="38404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chạy SONG SONG: Manuscript Generator + Listing Copywriter cùng lúc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Agent 02: Manuscript Generator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192024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1920240" cy="54864"/>
          </a:xfrm>
          <a:prstGeom prst="rect">
            <a:avLst/>
          </a:prstGeom>
          <a:solidFill>
            <a:srgbClr val="22C55E"/>
          </a:solidFill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09728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17373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kdp-prompt-writer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457200" y="2194560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Viết prompt cho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từng trang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606040" y="914400"/>
            <a:ext cx="192024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2606040" y="914400"/>
            <a:ext cx="1920240" cy="54864"/>
          </a:xfrm>
          <a:prstGeom prst="rect">
            <a:avLst/>
          </a:prstGeom>
          <a:solidFill>
            <a:srgbClr val="22C55E"/>
          </a:solidFill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09728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606040" y="17373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kdp-image-generator</a:t>
            </a:r>
            <a:endParaRPr lang="en-US" sz="1000" dirty="0"/>
          </a:p>
        </p:txBody>
      </p:sp>
      <p:sp>
        <p:nvSpPr>
          <p:cNvPr id="16" name="Text 11"/>
          <p:cNvSpPr/>
          <p:nvPr/>
        </p:nvSpPr>
        <p:spPr>
          <a:xfrm>
            <a:off x="2606040" y="2194560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ảnh AI qua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754880" y="914400"/>
            <a:ext cx="192024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754880" y="914400"/>
            <a:ext cx="1920240" cy="54864"/>
          </a:xfrm>
          <a:prstGeom prst="rect">
            <a:avLst/>
          </a:prstGeom>
          <a:solidFill>
            <a:srgbClr val="22C55E"/>
          </a:solidFill>
        </p:spPr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1097280"/>
            <a:ext cx="502920" cy="5029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4754880" y="17373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kdp-image-reviewer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754880" y="2194560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bằng vision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auto-regen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6903720" y="914400"/>
            <a:ext cx="192024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6903720" y="914400"/>
            <a:ext cx="1920240" cy="54864"/>
          </a:xfrm>
          <a:prstGeom prst="rect">
            <a:avLst/>
          </a:prstGeom>
          <a:solidFill>
            <a:srgbClr val="22C55E"/>
          </a:solidFill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097280"/>
            <a:ext cx="502920" cy="50292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903720" y="173736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kdp-book-builder</a:t>
            </a:r>
            <a:endParaRPr lang="en-US" sz="1000" dirty="0"/>
          </a:p>
        </p:txBody>
      </p:sp>
      <p:sp>
        <p:nvSpPr>
          <p:cNvPr id="26" name="Text 19"/>
          <p:cNvSpPr/>
          <p:nvPr/>
        </p:nvSpPr>
        <p:spPr>
          <a:xfrm>
            <a:off x="6903720" y="2194560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Ghép interior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hoàn chỉnh</a:t>
            </a:r>
            <a:endParaRPr lang="en-US" sz="1100" dirty="0"/>
          </a:p>
        </p:txBody>
      </p:sp>
      <p:sp>
        <p:nvSpPr>
          <p:cNvPr id="27" name="Text 20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Auto-review: PASS / WARN / REDO — max 2 lần regen/trang, sau đó skip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Parallel: max 6 sách cùng lúc (image API + PDF CPU)</a:t>
            </a:r>
            <a:endParaRPr lang="en-US" sz="11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Các Agent khác trong Pipeline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1887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73152" cy="1188720"/>
          </a:xfrm>
          <a:prstGeom prst="rect">
            <a:avLst/>
          </a:prstGeom>
          <a:solidFill>
            <a:srgbClr val="FF6B35"/>
          </a:solidFill>
        </p:spPr>
      </p:sp>
      <p:sp>
        <p:nvSpPr>
          <p:cNvPr id="8" name="Text 6"/>
          <p:cNvSpPr/>
          <p:nvPr/>
        </p:nvSpPr>
        <p:spPr>
          <a:xfrm>
            <a:off x="731520" y="822960"/>
            <a:ext cx="228600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6B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Designer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200400" y="8229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Full-wrap cover (front + spine + back)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KDP dimension check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artwork mặc định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83680" y="822960"/>
            <a:ext cx="192024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kdp-cover-creator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kdp-cover-checker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8229600" cy="11887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2194560"/>
            <a:ext cx="73152" cy="11887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3" name="Text 11"/>
          <p:cNvSpPr/>
          <p:nvPr/>
        </p:nvSpPr>
        <p:spPr>
          <a:xfrm>
            <a:off x="731520" y="2194560"/>
            <a:ext cx="228600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QC Reviewer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200400" y="21945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Pre-publish audit: interior + cover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consistency check (#1 reject)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verdict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0" y="2194560"/>
            <a:ext cx="192024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quality-reviewer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pdf_qc.py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57200" y="3566160"/>
            <a:ext cx="8229600" cy="11887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566160"/>
            <a:ext cx="73152" cy="118872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18" name="Text 16"/>
          <p:cNvSpPr/>
          <p:nvPr/>
        </p:nvSpPr>
        <p:spPr>
          <a:xfrm>
            <a:off x="731520" y="3566160"/>
            <a:ext cx="228600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Copywriter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3566160"/>
            <a:ext cx="320040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title/subtitle (200 char max)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backend keywords unique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 term auto-check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583680" y="3566160"/>
            <a:ext cx="1920240" cy="11887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kdp-book-detail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CEO điều phối 7 Pipelines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8" name="Shape 5"/>
          <p:cNvSpPr/>
          <p:nvPr/>
        </p:nvSpPr>
        <p:spPr>
          <a:xfrm>
            <a:off x="457200" y="822960"/>
            <a:ext cx="73152" cy="4572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9" name="Text 6"/>
          <p:cNvSpPr/>
          <p:nvPr/>
        </p:nvSpPr>
        <p:spPr>
          <a:xfrm>
            <a:off x="731520" y="82296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launch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2926080" y="82296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1 sách end-to-end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57200" y="1389888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2" name="Shape 9"/>
          <p:cNvSpPr/>
          <p:nvPr/>
        </p:nvSpPr>
        <p:spPr>
          <a:xfrm>
            <a:off x="457200" y="1389888"/>
            <a:ext cx="73152" cy="4572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3" name="Text 10"/>
          <p:cNvSpPr/>
          <p:nvPr/>
        </p:nvSpPr>
        <p:spPr>
          <a:xfrm>
            <a:off x="731520" y="1389888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926080" y="1389888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Morning brief + alerts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57200" y="1956816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6" name="Shape 13"/>
          <p:cNvSpPr/>
          <p:nvPr/>
        </p:nvSpPr>
        <p:spPr>
          <a:xfrm>
            <a:off x="457200" y="1956816"/>
            <a:ext cx="73152" cy="4572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7" name="Text 14"/>
          <p:cNvSpPr/>
          <p:nvPr/>
        </p:nvSpPr>
        <p:spPr>
          <a:xfrm>
            <a:off x="731520" y="1956816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weekly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926080" y="1956816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+ dispatch actions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457200" y="2523744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0" name="Shape 17"/>
          <p:cNvSpPr/>
          <p:nvPr/>
        </p:nvSpPr>
        <p:spPr>
          <a:xfrm>
            <a:off x="457200" y="2523744"/>
            <a:ext cx="73152" cy="457200"/>
          </a:xfrm>
          <a:prstGeom prst="rect">
            <a:avLst/>
          </a:prstGeom>
          <a:solidFill>
            <a:srgbClr val="14B8A6"/>
          </a:solidFill>
        </p:spPr>
      </p:sp>
      <p:sp>
        <p:nvSpPr>
          <p:cNvPr id="21" name="Text 18"/>
          <p:cNvSpPr/>
          <p:nvPr/>
        </p:nvSpPr>
        <p:spPr>
          <a:xfrm>
            <a:off x="731520" y="2523744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B8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2926080" y="2523744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Iterate 1 sách (ads/listing)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457200" y="3090672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4" name="Shape 21"/>
          <p:cNvSpPr/>
          <p:nvPr/>
        </p:nvSpPr>
        <p:spPr>
          <a:xfrm>
            <a:off x="457200" y="3090672"/>
            <a:ext cx="73152" cy="457200"/>
          </a:xfrm>
          <a:prstGeom prst="rect">
            <a:avLst/>
          </a:prstGeom>
          <a:solidFill>
            <a:srgbClr val="8B5CF6"/>
          </a:solidFill>
        </p:spPr>
      </p:sp>
      <p:sp>
        <p:nvSpPr>
          <p:cNvPr id="25" name="Text 22"/>
          <p:cNvSpPr/>
          <p:nvPr/>
        </p:nvSpPr>
        <p:spPr>
          <a:xfrm>
            <a:off x="731520" y="3090672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5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2926080" y="3090672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 → +30% budget + series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8" name="Shape 25"/>
          <p:cNvSpPr/>
          <p:nvPr/>
        </p:nvSpPr>
        <p:spPr>
          <a:xfrm>
            <a:off x="457200" y="3657600"/>
            <a:ext cx="73152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9" name="Text 26"/>
          <p:cNvSpPr/>
          <p:nvPr/>
        </p:nvSpPr>
        <p:spPr>
          <a:xfrm>
            <a:off x="731520" y="3657600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F44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kill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2926080" y="365760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ads, book → DORMANT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457200" y="4224528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32" name="Shape 29"/>
          <p:cNvSpPr/>
          <p:nvPr/>
        </p:nvSpPr>
        <p:spPr>
          <a:xfrm>
            <a:off x="457200" y="4224528"/>
            <a:ext cx="73152" cy="457200"/>
          </a:xfrm>
          <a:prstGeom prst="rect">
            <a:avLst/>
          </a:prstGeom>
          <a:solidFill>
            <a:srgbClr val="FF6B35"/>
          </a:solidFill>
        </p:spPr>
      </p:sp>
      <p:sp>
        <p:nvSpPr>
          <p:cNvPr id="33" name="Text 30"/>
          <p:cNvSpPr/>
          <p:nvPr/>
        </p:nvSpPr>
        <p:spPr>
          <a:xfrm>
            <a:off x="731520" y="4224528"/>
            <a:ext cx="201168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6B3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seasonal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2926080" y="4224528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books cho mùa lễ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457200" y="46634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pipeline = 1 row trong DB — audit trail đầy đủ</a:t>
            </a:r>
            <a:endParaRPr lang="en-US" sz="11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Demo: /kdp-create-book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822960"/>
            <a:ext cx="8229600" cy="54864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8" name="Text 5"/>
          <p:cNvSpPr/>
          <p:nvPr/>
        </p:nvSpPr>
        <p:spPr>
          <a:xfrm>
            <a:off x="594360" y="896112"/>
            <a:ext cx="7955280" cy="40233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/kdp-create-book "cozy cats in a cafe coloring book"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8229600" cy="4114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0" name="Text 7"/>
          <p:cNvSpPr/>
          <p:nvPr/>
        </p:nvSpPr>
        <p:spPr>
          <a:xfrm>
            <a:off x="640080" y="150876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2743200" y="150876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hỏi: audience, pages, theme_key, author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772400" y="1508760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1'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011680"/>
            <a:ext cx="8229600" cy="41148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4" name="Text 11"/>
          <p:cNvSpPr/>
          <p:nvPr/>
        </p:nvSpPr>
        <p:spPr>
          <a:xfrm>
            <a:off x="640080" y="201168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+ Prompts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2743200" y="201168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viết SEO metadata + 30 page prompts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772400" y="2011680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2'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57200" y="2514600"/>
            <a:ext cx="8229600" cy="4114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8" name="Text 15"/>
          <p:cNvSpPr/>
          <p:nvPr/>
        </p:nvSpPr>
        <p:spPr>
          <a:xfrm>
            <a:off x="640080" y="251460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Images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2743200" y="251460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API → 30 coloring pages (parallel 6)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72400" y="2514600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15'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57200" y="3017520"/>
            <a:ext cx="8229600" cy="41148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22" name="Text 19"/>
          <p:cNvSpPr/>
          <p:nvPr/>
        </p:nvSpPr>
        <p:spPr>
          <a:xfrm>
            <a:off x="640080" y="301752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+ Regen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2743200" y="301752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AI check → auto regen nếu lỗi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772400" y="3017520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5'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520440"/>
            <a:ext cx="8229600" cy="4114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6" name="Text 23"/>
          <p:cNvSpPr/>
          <p:nvPr/>
        </p:nvSpPr>
        <p:spPr>
          <a:xfrm>
            <a:off x="640080" y="352044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PDF + Cover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2743200" y="352044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PDF + full wrap cover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7772400" y="3520440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3'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4023360"/>
            <a:ext cx="8229600" cy="41148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30" name="Text 27"/>
          <p:cNvSpPr/>
          <p:nvPr/>
        </p:nvSpPr>
        <p:spPr>
          <a:xfrm>
            <a:off x="640080" y="4023360"/>
            <a:ext cx="20116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Gate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2743200" y="4023360"/>
            <a:ext cx="475488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/ NO-GO → sẵn sàng upload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7772400" y="4023360"/>
            <a:ext cx="7315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1'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Tổng: ~27 phút — bạn chỉ cần nhập concept + duyệt plan!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Agent tự phân loại &amp; hành động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82296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822960"/>
            <a:ext cx="73152" cy="73152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9" name="Text 6"/>
          <p:cNvSpPr/>
          <p:nvPr/>
        </p:nvSpPr>
        <p:spPr>
          <a:xfrm>
            <a:off x="731520" y="82296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2560320" y="8229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&lt;100K, ACOS &lt;30%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0" y="822960"/>
            <a:ext cx="25603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SCALE (budget +30%)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" y="1737360"/>
            <a:ext cx="73152" cy="73152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4" name="Text 11"/>
          <p:cNvSpPr/>
          <p:nvPr/>
        </p:nvSpPr>
        <p:spPr>
          <a:xfrm>
            <a:off x="731520" y="173736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Promising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560320" y="17373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100K-300K, ACOS 30-50%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943600" y="1737360"/>
            <a:ext cx="25603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IMPROVE (keyword harvest)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265176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7200" y="2651760"/>
            <a:ext cx="73152" cy="7315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9" name="Text 16"/>
          <p:cNvSpPr/>
          <p:nvPr/>
        </p:nvSpPr>
        <p:spPr>
          <a:xfrm>
            <a:off x="731520" y="265176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2560320" y="26517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300K-1M, ACOS 50-80%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943600" y="2651760"/>
            <a:ext cx="25603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ITERATE (fix listing/cover)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57200" y="3566160"/>
            <a:ext cx="73152" cy="7315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4" name="Text 21"/>
          <p:cNvSpPr/>
          <p:nvPr/>
        </p:nvSpPr>
        <p:spPr>
          <a:xfrm>
            <a:off x="731520" y="3566160"/>
            <a:ext cx="16459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2560320" y="35661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&gt;1M, ACOS &gt;80%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943600" y="3566160"/>
            <a:ext cx="256032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KILL (pause ads)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Analyst chạy weekly → CEO auto-dispatch actions → không cần can thiệp</a:t>
            </a:r>
            <a:endParaRPr lang="en-US" sz="1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Listing = SEO của sách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13716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13716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9" name="Text 6"/>
          <p:cNvSpPr/>
          <p:nvPr/>
        </p:nvSpPr>
        <p:spPr>
          <a:xfrm>
            <a:off x="640080" y="98755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tốt = sách tự lên top khi search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1298448"/>
            <a:ext cx="790956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dở = chôn vùi trong 6 triệu sách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 đổi sau publish OK — nhưng chậm reindex (3-7 ngày)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2651760"/>
            <a:ext cx="1508760" cy="5486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7200" y="2651760"/>
            <a:ext cx="150876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3" name="Text 10"/>
          <p:cNvSpPr/>
          <p:nvPr/>
        </p:nvSpPr>
        <p:spPr>
          <a:xfrm>
            <a:off x="457200" y="2724912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148840" y="2651760"/>
            <a:ext cx="1508760" cy="5486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2148840" y="2651760"/>
            <a:ext cx="150876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6" name="Text 13"/>
          <p:cNvSpPr/>
          <p:nvPr/>
        </p:nvSpPr>
        <p:spPr>
          <a:xfrm>
            <a:off x="2148840" y="2724912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840480" y="2651760"/>
            <a:ext cx="1508760" cy="5486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840480" y="2651760"/>
            <a:ext cx="150876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9" name="Text 16"/>
          <p:cNvSpPr/>
          <p:nvPr/>
        </p:nvSpPr>
        <p:spPr>
          <a:xfrm>
            <a:off x="3840480" y="2724912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5532120" y="2651760"/>
            <a:ext cx="1508760" cy="5486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5532120" y="2651760"/>
            <a:ext cx="150876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22" name="Text 19"/>
          <p:cNvSpPr/>
          <p:nvPr/>
        </p:nvSpPr>
        <p:spPr>
          <a:xfrm>
            <a:off x="5532120" y="2724912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 (7)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7223760" y="2651760"/>
            <a:ext cx="1508760" cy="54864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223760" y="2651760"/>
            <a:ext cx="1508760" cy="54864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25" name="Text 22"/>
          <p:cNvSpPr/>
          <p:nvPr/>
        </p:nvSpPr>
        <p:spPr>
          <a:xfrm>
            <a:off x="7223760" y="2724912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 (2)</a:t>
            </a:r>
            <a:endParaRPr lang="en-US" sz="11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Title Strategy (200 char max)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3108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[Main Keyword] [Modifier] [Audience] [Bonus Hook]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"Large Print Sudoku for Seniors: 60 Easy to Hard Puzzles with Solutions"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19202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"Sudoku Book" (quá generic)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22860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"Best Sudoku Ever for All Ages" (banned word "Best")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tắc: 2-3 main keyword chính, không spam</a:t>
            </a:r>
            <a:endParaRPr lang="en-US" sz="13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Title Keyword Research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 Rocket → keyword với volume + competition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autocomplete (free)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Helium 10 Cerebro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ChatGPT: "Generate 20 long-tail KDP titles cho niche X"</a:t>
            </a:r>
            <a:endParaRPr lang="en-US" sz="14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Subtitle (200 char max)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2860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— Bổ sung keyword không nhét vào title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nhưng NÊN có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Tách bằng " - " hoặc ":"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Title: "Large Print Sudoku for Seniors"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Subtitle: "60 Easy to Hard Puzzles | Brain Games for Memory &amp; Focus"</a:t>
            </a:r>
            <a:endParaRPr lang="en-US" sz="11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Description (4000 char, HTML allowed)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01168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186537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&lt;h2&gt;Hook (1 sentence)&lt;/h2&gt;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&lt;p&gt;Problem statement (2-3 sentences)&lt;/p&gt;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&lt;h3&gt;What's Inside:&lt;/h3&gt;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&lt;ul&gt;&lt;li&gt;✓ Bullet 1&lt;/li&gt;&lt;li&gt;✓ Bullet 2&lt;/li&gt;&lt;/ul&gt;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&lt;h3&gt;Perfect Gift For:&lt;/h3&gt;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&lt;ul&gt;&lt;li&gt;★ Audience 1&lt;/li&gt;&lt;/ul&gt;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&lt;p&gt;Click "Buy Now" CTA&lt;/p&gt;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allowed: &lt;b&gt;, &lt;i&gt;, &lt;u&gt;, &lt;h2&gt;-&lt;h6&gt;, &lt;ul&gt;, &lt;ol&gt;, &lt;li&gt;, &lt;p&gt;, &lt;br&gt;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33375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KHÔNG: &lt;img&gt;, &lt;a&gt;, &lt;div&gt;</a:t>
            </a:r>
            <a:endParaRPr lang="en-US" sz="11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Description Template (Adults Coloring)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320040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30540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&lt;h2&gt;Relax. Color. Repeat.&lt;/h2&gt;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&lt;p&gt;Tired of stressful days? Need a creative escape?&lt;/p&gt;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&lt;h3&gt;What's Inside:&lt;/h3&gt;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&lt;ul&gt;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&lt;li&gt;✓ 60 unique designs from cozy cafés&lt;/li&gt;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&lt;li&gt;✓ Single-sided printing — no bleed-through&lt;/li&gt;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&lt;li&gt;✓ Premium 8.5×11 inch pages&lt;/li&gt;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&lt;/ul&gt;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&lt;h3&gt;Perfect Gift For:&lt;/h3&gt;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&lt;ul&gt;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&lt;li&gt;★ Stressed adults seeking mindfulness&lt;/li&gt;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&lt;li&gt;★ Birthday &amp; holiday gifts&lt;/li&gt;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&lt;/ul&gt;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&lt;p&gt;&lt;b&gt;Click "Add to Cart" to start today!&lt;/b&gt;&lt;/p&gt;</a:t>
            </a:r>
            <a:endParaRPr lang="en-US" sz="9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7 Backend Keywords (250 char each)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Hidden từ customer, chỉ Amazon search engine thấy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8229600" cy="384048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8" name="Text 6"/>
          <p:cNvSpPr/>
          <p:nvPr/>
        </p:nvSpPr>
        <p:spPr>
          <a:xfrm>
            <a:off x="640080" y="1188720"/>
            <a:ext cx="7863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 relaxing coloring book gift idea adults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645920"/>
            <a:ext cx="8229600" cy="384048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0" name="Text 8"/>
          <p:cNvSpPr/>
          <p:nvPr/>
        </p:nvSpPr>
        <p:spPr>
          <a:xfrm>
            <a:off x="640080" y="1645920"/>
            <a:ext cx="7863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 mindfulness art therapy stress relief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8229600" cy="384048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2" name="Text 10"/>
          <p:cNvSpPr/>
          <p:nvPr/>
        </p:nvSpPr>
        <p:spPr>
          <a:xfrm>
            <a:off x="640080" y="2103120"/>
            <a:ext cx="7863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 creative hobby for women men birthday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384048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4" name="Text 12"/>
          <p:cNvSpPr/>
          <p:nvPr/>
        </p:nvSpPr>
        <p:spPr>
          <a:xfrm>
            <a:off x="640080" y="2560320"/>
            <a:ext cx="7863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 cozy aesthetic kawaii cute designs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17520"/>
            <a:ext cx="8229600" cy="384048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6" name="Text 14"/>
          <p:cNvSpPr/>
          <p:nvPr/>
        </p:nvSpPr>
        <p:spPr>
          <a:xfrm>
            <a:off x="640080" y="3017520"/>
            <a:ext cx="7863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5. single sided no bleed through pages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474720"/>
            <a:ext cx="8229600" cy="384048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8" name="Text 16"/>
          <p:cNvSpPr/>
          <p:nvPr/>
        </p:nvSpPr>
        <p:spPr>
          <a:xfrm>
            <a:off x="640080" y="3474720"/>
            <a:ext cx="7863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 handmade self care wellness journal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931920"/>
            <a:ext cx="8229600" cy="384048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0" name="Text 18"/>
          <p:cNvSpPr/>
          <p:nvPr/>
        </p:nvSpPr>
        <p:spPr>
          <a:xfrm>
            <a:off x="640080" y="3931920"/>
            <a:ext cx="786384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 gifts for her him teen mom dad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ô = 7 góc nhìn khác nhau (audience, occasion, style, format, gift, use case, demographic)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Keyword Research cho Backend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3200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 Rocket → AMS Keywords tab (best)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Helium 10 Magnet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ASIN top competitors (Helium 10 Cerebro)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Auto-Complete → "coloring book ___" + "___ coloring book"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lặp keyword đã có trong title/subtitle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lặp giữa 7 ô — mỗi ô là unique</a:t>
            </a:r>
            <a:endParaRPr lang="en-US" sz="13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Categories (Chọn 2)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18288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Chiến lược Category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1371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 cho phép 2 BISAC categories khi upload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thể request thêm 8 sub-categories qua KDP Help (sau publish)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Chiến lược: chọn category YẾU (top 1 BSR cao) → dễ dethrone</a:t>
            </a:r>
            <a:endParaRPr lang="en-US" sz="11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Category Hunting Strategy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xuống sub-category cụ thể trên Amazon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BSR của top 1, top 5, top 10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 BSR &gt; 50,000 → category yếu → VÀO DỄ ✅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 BSR &lt; 5,000 → category mạnh → TRÁNH ❌</a:t>
            </a:r>
            <a:endParaRPr lang="en-US" sz="14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Pricing Strategy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73152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9" name="Text 6"/>
          <p:cNvSpPr/>
          <p:nvPr/>
        </p:nvSpPr>
        <p:spPr>
          <a:xfrm>
            <a:off x="731520" y="91440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743200" y="91440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$6.99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754880" y="91440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Low, tăng review velocity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" y="1828800"/>
            <a:ext cx="54864" cy="7315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4" name="Text 11"/>
          <p:cNvSpPr/>
          <p:nvPr/>
        </p:nvSpPr>
        <p:spPr>
          <a:xfrm>
            <a:off x="731520" y="182880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2-4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2743200" y="182880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$7.99-8.99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754880" y="182880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elasticity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57200" y="2743200"/>
            <a:ext cx="54864" cy="73152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9" name="Text 16"/>
          <p:cNvSpPr/>
          <p:nvPr/>
        </p:nvSpPr>
        <p:spPr>
          <a:xfrm>
            <a:off x="731520" y="274320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25+ reviews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2743200" y="274320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$9.99-12.99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4754880" y="2743200"/>
            <a:ext cx="36576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margin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$4.99-5.99: royalty quá thấp với printing cost</a:t>
            </a:r>
            <a:endParaRPr lang="en-US" sz="12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Reading Age &amp; Audience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Khai đúng audience → Amazon recommend đúng người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Adults coloring: 18+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Kids: chọn age range (3-5, 6-8, 9-12)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Seniors: dùng "Adults" nhưng keyword nhấn "seniors", "large print"</a:t>
            </a:r>
            <a:endParaRPr lang="en-US" sz="14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KDP Upload — Roadmap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Text 4"/>
          <p:cNvSpPr/>
          <p:nvPr/>
        </p:nvSpPr>
        <p:spPr>
          <a:xfrm>
            <a:off x="914400" y="7772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kdp.amazon.com → Bookshelf → "+ Create" → "Paperback"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57200" y="1371600"/>
            <a:ext cx="260604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457200" y="1371600"/>
            <a:ext cx="2606040" cy="4572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0" name="Text 7"/>
          <p:cNvSpPr/>
          <p:nvPr/>
        </p:nvSpPr>
        <p:spPr>
          <a:xfrm>
            <a:off x="457200" y="1371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1: Details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94360" y="196596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Author, Keywords, Categories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37560" y="1371600"/>
            <a:ext cx="260604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337560" y="1371600"/>
            <a:ext cx="2606040" cy="4572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4" name="Text 11"/>
          <p:cNvSpPr/>
          <p:nvPr/>
        </p:nvSpPr>
        <p:spPr>
          <a:xfrm>
            <a:off x="3337560" y="1371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2: Content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474720" y="196596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ISBN, Print options, Upload PDF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217920" y="1371600"/>
            <a:ext cx="260604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17920" y="1371600"/>
            <a:ext cx="2606040" cy="4572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8" name="Text 15"/>
          <p:cNvSpPr/>
          <p:nvPr/>
        </p:nvSpPr>
        <p:spPr>
          <a:xfrm>
            <a:off x="6217920" y="1371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B1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 3: Pricing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355080" y="1965960"/>
            <a:ext cx="2331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Price, Royalty, Territories</a:t>
            </a:r>
            <a:endParaRPr lang="en-US" sz="11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Tab 1: Paperback Details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822960"/>
            <a:ext cx="786384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Language: English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Title (200 char) — paste từ plan.json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Subtitle (200 char) — optional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Author: First Name + Last Name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(4000 char HTML)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 Rights: "I own the copyright"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Keywords: 7 ô (250 char mỗi ô)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Categories: 2 (chọn từ list KDP)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 Content: No (cho coloring)</a:t>
            </a:r>
            <a:endParaRPr lang="en-US" sz="12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Tab 2: Paperback Content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822960"/>
            <a:ext cx="786384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ISBN: chọn "Get a free KDP ISBN" (free)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Ink: Black &amp; White (low-content)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Paper: White hoặc Cream (white phổ biến)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 Size: 8.5×11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Bleed: "Bleed (PDF only)" nếu hình tràn lề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Finish: Matte (đẹp tay) hoặc Glossy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Upload: interior.pdf + cover.pdf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"Launch Previewer" → review</a:t>
            </a:r>
            <a:endParaRPr lang="en-US" sz="12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KDP Previewer (Quan trọng!)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7432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7432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web miễn phí của KDP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 PDF như sách thật — kiểm tra trước submit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mọi page render đúng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margins OK, không bị cắt chữ/hình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cover wrap match với interior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Check: spine text (nếu ≥ 79 trang)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 thể flag warning → fix trước submit</a:t>
            </a:r>
            <a:endParaRPr lang="en-US" sz="13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Tab 3: Rights &amp; Pricing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822960"/>
            <a:ext cx="7863840" cy="3200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Territories: All Territories (default)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Marketplace: Amazon.com (US chính)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Price: $9.99 (ví dụ)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Royalty Plan: 60% (default cho paperback)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Auto-fill rates cho UK, DE, FR...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Expanded Distribution: ✅ TICK (bonus reach 30%)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"Publish Your Paperback"</a:t>
            </a:r>
            <a:endParaRPr lang="en-US" sz="13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Sau khi Submit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Shape 5"/>
          <p:cNvSpPr/>
          <p:nvPr/>
        </p:nvSpPr>
        <p:spPr>
          <a:xfrm>
            <a:off x="457200" y="914400"/>
            <a:ext cx="54864" cy="640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731520" y="91440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Review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0" y="914400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24-72h chờ Amazon review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2" name="Text 10"/>
          <p:cNvSpPr/>
          <p:nvPr/>
        </p:nvSpPr>
        <p:spPr>
          <a:xfrm>
            <a:off x="731520" y="169164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✅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0" y="1691640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Sách đã lên Amazon!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5" name="Shape 13"/>
          <p:cNvSpPr/>
          <p:nvPr/>
        </p:nvSpPr>
        <p:spPr>
          <a:xfrm>
            <a:off x="457200" y="2468880"/>
            <a:ext cx="54864" cy="64008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6" name="Text 14"/>
          <p:cNvSpPr/>
          <p:nvPr/>
        </p:nvSpPr>
        <p:spPr>
          <a:xfrm>
            <a:off x="731520" y="246888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Required ⚠️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0" y="2468880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Cần fix — xem email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Shape 17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0" name="Text 18"/>
          <p:cNvSpPr/>
          <p:nvPr/>
        </p:nvSpPr>
        <p:spPr>
          <a:xfrm>
            <a:off x="731520" y="324612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 ❌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57600" y="3246120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Nghiêm trọng — phải fix &amp; resubmit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Trung bình: 24-48h (ngày thường), 72h (cuối tuần)</a:t>
            </a:r>
            <a:endParaRPr lang="en-US" sz="12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Common First-Submit Issues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100" name="Table 0"/>
          <p:cNvGraphicFramePr>
            <a:graphicFrameLocks noGrp="1"/>
          </p:cNvGraphicFramePr>
          <p:nvPr/>
        </p:nvGraphicFramePr>
        <p:xfrm>
          <a:off x="457200" y="868680"/>
          <a:ext cx="8229600" cy="2743200"/>
        </p:xfrm>
        <a:graphic>
          <a:graphicData uri="http://schemas.openxmlformats.org/drawingml/2006/table">
            <a:tbl>
              <a:tblPr/>
              <a:tblGrid>
                <a:gridCol w="3657600"/>
                <a:gridCol w="457200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Spine text too small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Tăng font hoặc remove (&lt; 79p)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 size mismatch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Re-export PDF đúng 8.5×11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DPI too low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Re-render images at 300 DPI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mismatch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cover = title listing exact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Banned keyword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Remove "Best", "Free", brand names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7490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→ Resubmit → review lại 24-72h</a:t>
            </a:r>
            <a:endParaRPr lang="en-US" sz="13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Author Central Setup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2860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author.amazon.com — Setup song song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 sách của bạn (link tài khoản)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Add: photo, bio, social links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page giúp customer tìm sách khác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5 phút setup</a:t>
            </a:r>
            <a:endParaRPr lang="en-US" sz="13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Tổng kết Day 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36576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Hiểu anatomy 1 sách KDP (Interior + Cover + Listing)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Có production toolkit sẵn sàng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Demo end-to-end 1 sách 35 phút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Listing SEO mastery — 5 thành phần</a:t>
            </a:r>
            <a:endParaRPr lang="en-US" sz="1400" dirty="0"/>
          </a:p>
          <a:p>
            <a:pPr marL="0" indent="0">
              <a:spcAft>
                <a:spcPts val="800"/>
              </a:spcAft>
              <a:buNone/>
            </a:pPr>
            <a:r>
              <a:rPr lang="en-US" sz="14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Upload submitted → đợi review 24-72h</a:t>
            </a:r>
            <a:endParaRPr lang="en-US" sz="14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Homework Day 2 → Day 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3200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Submit sách lên KDP TRƯỚC 9PM tối nay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Capture screenshot status "In Review"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Set up Amazon Author Central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Prepare Ads budget ($30-50 tối thiểu cho ngày 3)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Đăng ký Amazon Ads account (advertising.amazon.com)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Review sách 3 đối thủ top niche → note pricing/listing</a:t>
            </a:r>
            <a:endParaRPr lang="en-US" sz="12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Ngủ trước 10PM!</a:t>
            </a:r>
            <a:endParaRPr lang="en-US" sz="12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F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Q&amp;A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371600" y="2377440"/>
            <a:ext cx="6400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94A3B8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Câu hỏi nào cũng OK — đặc biệt câu 'ngu ngơ'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3108960"/>
            <a:ext cx="64008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mic 5 phút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Shape 1"/>
          <p:cNvSpPr/>
          <p:nvPr/>
        </p:nvSpPr>
        <p:spPr>
          <a:xfrm>
            <a:off x="548640" y="914400"/>
            <a:ext cx="1645920" cy="5029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4" name="Text 2"/>
          <p:cNvSpPr/>
          <p:nvPr/>
        </p:nvSpPr>
        <p:spPr>
          <a:xfrm>
            <a:off x="548640" y="914400"/>
            <a:ext cx="16459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DAY 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804672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LAUNCH, ADS &amp; SCALE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80467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5A623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"Books don't sell themselves. Systems do."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804672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Từ 1 sách đến hệ thống tự động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9" name="Text 7"/>
          <p:cNvSpPr/>
          <p:nvPr/>
        </p:nvSpPr>
        <p:spPr>
          <a:xfrm>
            <a:off x="548640" y="4640580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Tony Trieu — KDP 5AM Club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Day 2 Recap + Homework Check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Quiz: ai có sách "Live" rồi? Ai vẫn "In Review"?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debug 2-3 case bị reject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3 sách "Live" của học viên (celebration!)</a:t>
            </a:r>
            <a:endParaRPr lang="en-US" sz="14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Day 3 — Agenda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107" name="Table 0"/>
          <p:cNvGraphicFramePr>
            <a:graphicFrameLocks noGrp="1"/>
          </p:cNvGraphicFramePr>
          <p:nvPr/>
        </p:nvGraphicFramePr>
        <p:xfrm>
          <a:off x="457200" y="868680"/>
          <a:ext cx="8229600" cy="3072384"/>
        </p:xfrm>
        <a:graphic>
          <a:graphicData uri="http://schemas.openxmlformats.org/drawingml/2006/table">
            <a:tbl>
              <a:tblPr/>
              <a:tblGrid>
                <a:gridCol w="1828800"/>
                <a:gridCol w="5029200"/>
                <a:gridCol w="1371600"/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Thời gian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Nội dung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0:00-0:05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Recap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0:05-0:20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 Strategy 30 ngày đầu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0:20-1:00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Ads Deep Dive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1:00-1:20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Demo: 3 Campaign cho 1 sách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1:20-1:35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 Tracking &amp; Iteration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1:35-1:50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 System theo 3 Tier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1:50-2:00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21-Day Roadmap + Closing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10'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Tại sao 30 ngày đầu QUAN TRỌNG?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Text 4"/>
          <p:cNvSpPr/>
          <p:nvPr/>
        </p:nvSpPr>
        <p:spPr>
          <a:xfrm>
            <a:off x="640080" y="100584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có "honeymoon period" 30 ngày đầu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velocity 30 ngày đầu = signal cho Amazon algorithm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thiết lập trong 30 ngày → giữ ranking 6-12 tháng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 bê 30 ngày → BSR rớt → rất khó cứu lại</a:t>
            </a:r>
            <a:endParaRPr lang="en-US" sz="14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Launch Goal Framework — 3 Tiers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2606040" cy="3200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2606040" cy="4572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457200" y="82296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Bootstrap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371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$50-200/m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94360" y="19202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5-10 sales/sách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200K-500K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29260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5-10 reviews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37560" y="822960"/>
            <a:ext cx="2606040" cy="3200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337560" y="822960"/>
            <a:ext cx="2606040" cy="4572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5" name="Text 13"/>
          <p:cNvSpPr/>
          <p:nvPr/>
        </p:nvSpPr>
        <p:spPr>
          <a:xfrm>
            <a:off x="3337560" y="82296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Standard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37560" y="1371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$300-1000/m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3474720" y="19202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30-100 sales/sách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4720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50K-200K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474720" y="29260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 reviews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17920" y="822960"/>
            <a:ext cx="2606040" cy="3200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0" y="822960"/>
            <a:ext cx="2606040" cy="4572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22" name="Text 20"/>
          <p:cNvSpPr/>
          <p:nvPr/>
        </p:nvSpPr>
        <p:spPr>
          <a:xfrm>
            <a:off x="6217920" y="82296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Pro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217920" y="13716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$2000+/m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355080" y="192024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200+ sales/sách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55080" y="242316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&lt; 50K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355080" y="2926080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reviews</a:t>
            </a:r>
            <a:endParaRPr lang="en-US" sz="11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Get First Reviews (Legitimate)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384048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56032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Cách hợp lệ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520440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&amp; friends (max 5)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 (Advance Review Copy)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Vine Voices ($200)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FB group "ARC reader for KDP"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4114800" cy="25603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822960"/>
            <a:ext cx="54864" cy="25603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2" name="Text 10"/>
          <p:cNvSpPr/>
          <p:nvPr/>
        </p:nvSpPr>
        <p:spPr>
          <a:xfrm>
            <a:off x="47548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KHÔNG BAO GIỜ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1207008"/>
            <a:ext cx="3794760" cy="21031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for reviews → BAN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swap → BAN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 accounts → BAN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Incentivized reviews → BAN</a:t>
            </a:r>
            <a:endParaRPr lang="en-US" sz="11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Author Page Optimization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74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professional — tạo trust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 200-400 từ — tell your story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social: blog, Instagram, Facebook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"Follow" button → xây dựng fan base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more sách = author authority tăng</a:t>
            </a:r>
            <a:endParaRPr lang="en-US" sz="14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A+ Content (KDP miễn phí)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2860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marketing trong listing — tăng conversion 10-20%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module: comparison chart, product highlights, image carousel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KDP → Marketing → A+ Content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free trên Canva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Giúp listing nổi bật hơn đối thủ</a:t>
            </a:r>
            <a:endParaRPr lang="en-US" sz="11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Pricing Strategy 30 Ngày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Shape 5"/>
          <p:cNvSpPr/>
          <p:nvPr/>
        </p:nvSpPr>
        <p:spPr>
          <a:xfrm>
            <a:off x="457200" y="914400"/>
            <a:ext cx="54864" cy="5486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731520" y="91440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1-7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914400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$6.99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303520" y="914400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velocity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572768"/>
            <a:ext cx="822960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2" name="Shape 10"/>
          <p:cNvSpPr/>
          <p:nvPr/>
        </p:nvSpPr>
        <p:spPr>
          <a:xfrm>
            <a:off x="457200" y="1572768"/>
            <a:ext cx="54864" cy="54864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3" name="Text 11"/>
          <p:cNvSpPr/>
          <p:nvPr/>
        </p:nvSpPr>
        <p:spPr>
          <a:xfrm>
            <a:off x="731520" y="1572768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8-14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200400" y="1572768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$7.99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5303520" y="1572768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231136"/>
            <a:ext cx="822960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7" name="Shape 15"/>
          <p:cNvSpPr/>
          <p:nvPr/>
        </p:nvSpPr>
        <p:spPr>
          <a:xfrm>
            <a:off x="457200" y="2231136"/>
            <a:ext cx="54864" cy="54864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8" name="Text 16"/>
          <p:cNvSpPr/>
          <p:nvPr/>
        </p:nvSpPr>
        <p:spPr>
          <a:xfrm>
            <a:off x="731520" y="2231136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15-21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00400" y="2231136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$8.99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5303520" y="2231136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Elasticity check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889504"/>
            <a:ext cx="822960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2" name="Shape 20"/>
          <p:cNvSpPr/>
          <p:nvPr/>
        </p:nvSpPr>
        <p:spPr>
          <a:xfrm>
            <a:off x="457200" y="2889504"/>
            <a:ext cx="54864" cy="54864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23" name="Text 21"/>
          <p:cNvSpPr/>
          <p:nvPr/>
        </p:nvSpPr>
        <p:spPr>
          <a:xfrm>
            <a:off x="731520" y="2889504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22-30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00400" y="2889504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$9.99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303520" y="2889504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547872"/>
            <a:ext cx="8229600" cy="54864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7" name="Shape 25"/>
          <p:cNvSpPr/>
          <p:nvPr/>
        </p:nvSpPr>
        <p:spPr>
          <a:xfrm>
            <a:off x="457200" y="3547872"/>
            <a:ext cx="54864" cy="54864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28" name="Text 26"/>
          <p:cNvSpPr/>
          <p:nvPr/>
        </p:nvSpPr>
        <p:spPr>
          <a:xfrm>
            <a:off x="731520" y="3547872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 25+ reviews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00400" y="3547872"/>
            <a:ext cx="18288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$10.99-12.99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5303520" y="3547872"/>
            <a:ext cx="3200400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margin</a:t>
            </a:r>
            <a:endParaRPr lang="en-US" sz="11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Promotion: Kindle Countdown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2860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 áp dụng cho Kindle eBook (không paperback)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Giảm giá theo lịch trình → tạo urgency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 → Marketing → Kindle Countdown Deals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7 ngày: $0.99 → $1.99 → $2.99 → $3.99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được feature trên Amazon "Today's Deals"</a:t>
            </a:r>
            <a:endParaRPr lang="en-US" sz="11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Cross-Promotion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Cuối sách: "If you enjoyed this, check out..."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ASIN tới sách khác của bạn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series: 5-10 sách cùng niche → cross-sell tự nhiên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"Other books by this author" auto-show trên Author Central</a:t>
            </a:r>
            <a:endParaRPr lang="en-US" sz="14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Social Proof Building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384048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2860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Channels hiệu quả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52044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Pinterest: 5 pins/tuần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Instagram: book aesthetic photos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TikTok BookTok: video unboxing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41148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822960"/>
            <a:ext cx="54864" cy="22860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2" name="Text 10"/>
          <p:cNvSpPr/>
          <p:nvPr/>
        </p:nvSpPr>
        <p:spPr>
          <a:xfrm>
            <a:off x="47548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Skip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1207008"/>
            <a:ext cx="37947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Facebook ads (đắt + low conversion)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influencer (ROI thấp cho KDP)</a:t>
            </a:r>
            <a:endParaRPr lang="en-US" sz="11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Launch Checklist (30 ngày đầu)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117" name="Table 0"/>
          <p:cNvGraphicFramePr>
            <a:graphicFrameLocks noGrp="1"/>
          </p:cNvGraphicFramePr>
          <p:nvPr/>
        </p:nvGraphicFramePr>
        <p:xfrm>
          <a:off x="457200" y="777240"/>
          <a:ext cx="8229600" cy="3822192"/>
        </p:xfrm>
        <a:graphic>
          <a:graphicData uri="http://schemas.openxmlformats.org/drawingml/2006/table">
            <a:tbl>
              <a:tblPr/>
              <a:tblGrid>
                <a:gridCol w="1371600"/>
                <a:gridCol w="6858000"/>
              </a:tblGrid>
              <a:tr h="34747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Sách live, pricing $6.99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Author Central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Submit A+ Content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family review (5 max)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3 Ads campaigns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check: BSR baseline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Ads optimization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Adjust pricing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 review → next book?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"Honeymoon" end → consolidate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Vì sao Ads QUAN TRỌNG?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Text 4"/>
          <p:cNvSpPr/>
          <p:nvPr/>
        </p:nvSpPr>
        <p:spPr>
          <a:xfrm>
            <a:off x="640080" y="100584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Ads + Newbie = sách BSR 5,000,000+ (invisible)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90% sách KDP top 1000 đang chạy Ads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typical: $1 spend → $2-4 royalty (ACOS 25-50%)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còn boost organic ranking (velocity signal)</a:t>
            </a:r>
            <a:endParaRPr lang="en-US" sz="14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Sponsored Products (SP)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14400"/>
            <a:ext cx="54864" cy="73152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" name="Text 6"/>
          <p:cNvSpPr/>
          <p:nvPr/>
        </p:nvSpPr>
        <p:spPr>
          <a:xfrm>
            <a:off x="731520" y="91440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Products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0" y="91440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Keyword-based, click-to-product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914400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Newbie START HERE 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828800"/>
            <a:ext cx="54864" cy="73152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3" name="Text 11"/>
          <p:cNvSpPr/>
          <p:nvPr/>
        </p:nvSpPr>
        <p:spPr>
          <a:xfrm>
            <a:off x="731520" y="182880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Brands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57600" y="182880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trên search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583680" y="1828800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Cần ≥ 3 sách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743200"/>
            <a:ext cx="54864" cy="73152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8" name="Text 16"/>
          <p:cNvSpPr/>
          <p:nvPr/>
        </p:nvSpPr>
        <p:spPr>
          <a:xfrm>
            <a:off x="731520" y="274320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Display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657600" y="274320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Retargeting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83680" y="2743200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8404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 học chỉ focus Sponsored Products (SP)</a:t>
            </a:r>
            <a:endParaRPr lang="en-US" sz="13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3 Campaign Types — Setup chuẩn cho 1 sách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260604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2606040" cy="4572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457200" y="82296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Auto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41732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tự match keyword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920240"/>
            <a:ext cx="24231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DISCOVERY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46888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$5/ngày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337560" y="822960"/>
            <a:ext cx="260604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37560" y="822960"/>
            <a:ext cx="2606040" cy="4572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4" name="Text 12"/>
          <p:cNvSpPr/>
          <p:nvPr/>
        </p:nvSpPr>
        <p:spPr>
          <a:xfrm>
            <a:off x="3337560" y="82296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Manual Exact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29000" y="141732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chính xác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29000" y="1920240"/>
            <a:ext cx="24231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SCALE WINNERS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429000" y="246888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$10/ngày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17920" y="822960"/>
            <a:ext cx="260604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822960"/>
            <a:ext cx="2606040" cy="4572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20" name="Text 18"/>
          <p:cNvSpPr/>
          <p:nvPr/>
        </p:nvSpPr>
        <p:spPr>
          <a:xfrm>
            <a:off x="6217920" y="82296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Manual Broad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309360" y="141732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variations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309360" y="1920240"/>
            <a:ext cx="2423160" cy="4114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DISCOVER MORE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09360" y="246888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$5/ngày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CẢ 3 song song từ đầu</a:t>
            </a:r>
            <a:endParaRPr lang="en-US" sz="13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Bid Math 101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64592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14996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CPC = (Royalty × Target ACOS) / Conversion Rate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Royalty            = $3.69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 ACOS        = 30%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Conversion Rate    = 10% (typical KDP)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CPC = ($3.69 × 0.30) / 0.10 = $1.10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khởi đầu: 50% của Max CPC = $0.55</a:t>
            </a:r>
            <a:endParaRPr lang="en-US" sz="18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ACOS là gì? (Advertising Cost of Sales)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37160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12252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ACOS = Ad Spend / Ad Revenue × 100%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Ví dụ: spend $10 → $40 sales → ACOS = 25%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Break-even ACOS = Royalty / Price × 100%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$3.69 / $9.99 = 37%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tiêu: ACOS &lt; break-even = PROFIT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newbie: 30-40% ACOS</a:t>
            </a:r>
            <a:endParaRPr lang="en-US" sz="14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Keyword Research cho Ads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164592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 Rocket AMS Keywords (best)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Helium 10 Cerebro (reverse ASIN)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search bar autocomplete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search terms reports (sau 7 ngày chạy Ads)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56032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sách: collect 50-100 keyword → split: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926080"/>
            <a:ext cx="7863840" cy="914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keyword cho Exact campaign (high relevance)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keyword cho Broad campaign (variations)</a:t>
            </a:r>
            <a:endParaRPr lang="en-US" sz="13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Campaign Setup: Auto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Text 5"/>
          <p:cNvSpPr/>
          <p:nvPr/>
        </p:nvSpPr>
        <p:spPr>
          <a:xfrm>
            <a:off x="640080" y="86868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name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0" y="8686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[BookTitle]_AUTO_2026-04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0" name="Text 8"/>
          <p:cNvSpPr/>
          <p:nvPr/>
        </p:nvSpPr>
        <p:spPr>
          <a:xfrm>
            <a:off x="640080" y="146304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0" y="146304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5740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3" name="Text 11"/>
          <p:cNvSpPr/>
          <p:nvPr/>
        </p:nvSpPr>
        <p:spPr>
          <a:xfrm>
            <a:off x="640080" y="205740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74720" y="205740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Automatic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6" name="Text 14"/>
          <p:cNvSpPr/>
          <p:nvPr/>
        </p:nvSpPr>
        <p:spPr>
          <a:xfrm>
            <a:off x="640080" y="265176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bid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265176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$0.50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Text 17"/>
          <p:cNvSpPr/>
          <p:nvPr/>
        </p:nvSpPr>
        <p:spPr>
          <a:xfrm>
            <a:off x="640080" y="324612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Bidding strategy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74720" y="324612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Dynamic - down only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22" name="Text 20"/>
          <p:cNvSpPr/>
          <p:nvPr/>
        </p:nvSpPr>
        <p:spPr>
          <a:xfrm>
            <a:off x="640080" y="384048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74720" y="38404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end date</a:t>
            </a:r>
            <a:endParaRPr lang="en-US" sz="12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Campaign Setup: Manual Exact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Text 5"/>
          <p:cNvSpPr/>
          <p:nvPr/>
        </p:nvSpPr>
        <p:spPr>
          <a:xfrm>
            <a:off x="640080" y="86868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name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0" y="8686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[BookTitle]_EXACT_2026-04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0" name="Text 8"/>
          <p:cNvSpPr/>
          <p:nvPr/>
        </p:nvSpPr>
        <p:spPr>
          <a:xfrm>
            <a:off x="640080" y="146304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0" y="146304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$10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5740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3" name="Text 11"/>
          <p:cNvSpPr/>
          <p:nvPr/>
        </p:nvSpPr>
        <p:spPr>
          <a:xfrm>
            <a:off x="640080" y="205740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74720" y="205740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Manual → Keyword → Exact (30 keywords)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6" name="Text 14"/>
          <p:cNvSpPr/>
          <p:nvPr/>
        </p:nvSpPr>
        <p:spPr>
          <a:xfrm>
            <a:off x="640080" y="265176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bid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265176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$0.55 each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Text 17"/>
          <p:cNvSpPr/>
          <p:nvPr/>
        </p:nvSpPr>
        <p:spPr>
          <a:xfrm>
            <a:off x="640080" y="324612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Bidding strategy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74720" y="324612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Dynamic - down only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22" name="Text 20"/>
          <p:cNvSpPr/>
          <p:nvPr/>
        </p:nvSpPr>
        <p:spPr>
          <a:xfrm>
            <a:off x="640080" y="384048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74720" y="38404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end date</a:t>
            </a:r>
            <a:endParaRPr lang="en-US" sz="12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Campaign Setup: Manual Broad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6868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Text 5"/>
          <p:cNvSpPr/>
          <p:nvPr/>
        </p:nvSpPr>
        <p:spPr>
          <a:xfrm>
            <a:off x="640080" y="86868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 name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474720" y="8686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[BookTitle]_BROAD_2026-04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0" name="Text 8"/>
          <p:cNvSpPr/>
          <p:nvPr/>
        </p:nvSpPr>
        <p:spPr>
          <a:xfrm>
            <a:off x="640080" y="146304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4720" y="146304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05740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3" name="Text 11"/>
          <p:cNvSpPr/>
          <p:nvPr/>
        </p:nvSpPr>
        <p:spPr>
          <a:xfrm>
            <a:off x="640080" y="205740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474720" y="205740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Manual → Keyword → Broad (20 keywords)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6" name="Text 14"/>
          <p:cNvSpPr/>
          <p:nvPr/>
        </p:nvSpPr>
        <p:spPr>
          <a:xfrm>
            <a:off x="640080" y="265176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bid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474720" y="265176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$0.40 each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Text 17"/>
          <p:cNvSpPr/>
          <p:nvPr/>
        </p:nvSpPr>
        <p:spPr>
          <a:xfrm>
            <a:off x="640080" y="324612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Bidding strategy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474720" y="324612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Dynamic - down only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22" name="Text 20"/>
          <p:cNvSpPr/>
          <p:nvPr/>
        </p:nvSpPr>
        <p:spPr>
          <a:xfrm>
            <a:off x="640080" y="3840480"/>
            <a:ext cx="2743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474720" y="3840480"/>
            <a:ext cx="50292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 end date</a:t>
            </a:r>
            <a:endParaRPr lang="en-US" sz="12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Negative Keywords (CỰC quan trọng)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228600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9" name="Text 6"/>
          <p:cNvSpPr/>
          <p:nvPr/>
        </p:nvSpPr>
        <p:spPr>
          <a:xfrm>
            <a:off x="640080" y="98755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Tiết kiệm 20-30% spend wasteful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1298448"/>
            <a:ext cx="79095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keyword = keyword KHÔNG muốn ads hiện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sách "Sudoku Seniors" → negative: "kids", "puzzle for children"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khi tạo campaign + add liên tục từ search term reports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search terms mỗi 7-14 ngày để thêm negatives</a:t>
            </a:r>
            <a:endParaRPr lang="en-US" sz="11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Optimization Cycle (7-14 ngày 1 lần)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Shape 5"/>
          <p:cNvSpPr/>
          <p:nvPr/>
        </p:nvSpPr>
        <p:spPr>
          <a:xfrm>
            <a:off x="457200" y="914400"/>
            <a:ext cx="54864" cy="64008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8" name="Text 6"/>
          <p:cNvSpPr/>
          <p:nvPr/>
        </p:nvSpPr>
        <p:spPr>
          <a:xfrm>
            <a:off x="731520" y="914400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&gt; $1, sales = 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0" y="914400"/>
            <a:ext cx="3931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Negative keyword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2" name="Text 10"/>
          <p:cNvSpPr/>
          <p:nvPr/>
        </p:nvSpPr>
        <p:spPr>
          <a:xfrm>
            <a:off x="731520" y="1691640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&gt; $1, ACOS &lt; 30%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0" y="1691640"/>
            <a:ext cx="3931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Promote → Exact, tăng bid 20%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5" name="Shape 13"/>
          <p:cNvSpPr/>
          <p:nvPr/>
        </p:nvSpPr>
        <p:spPr>
          <a:xfrm>
            <a:off x="457200" y="2468880"/>
            <a:ext cx="54864" cy="64008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6" name="Text 14"/>
          <p:cNvSpPr/>
          <p:nvPr/>
        </p:nvSpPr>
        <p:spPr>
          <a:xfrm>
            <a:off x="731520" y="2468880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&gt; $1, ACOS 30-50%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2468880"/>
            <a:ext cx="3931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Watch, no change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Shape 17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20" name="Text 18"/>
          <p:cNvSpPr/>
          <p:nvPr/>
        </p:nvSpPr>
        <p:spPr>
          <a:xfrm>
            <a:off x="731520" y="3246120"/>
            <a:ext cx="36576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&gt; $1, ACOS &gt; 50%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0" y="3246120"/>
            <a:ext cx="39319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Giảm bid 20%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"Search Term Report" → Sort by Spend → Apply → Wait 7-14 ngày → Lặp lại</a:t>
            </a:r>
            <a:endParaRPr lang="en-US" sz="11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Daily Pacing &amp; Budget Control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74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1 lần/ngày sáng (5AM Club!)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campaign nếu spend &gt; 2× revenue trong 7 ngày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Tăng budget 20% cho campaign ACOS &lt; 25%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tăng bid quá nhanh — Amazon punishes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Tracking: Daily Spend, Daily Sales, ACOS rolling 7d</a:t>
            </a:r>
            <a:endParaRPr lang="en-US" sz="14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7 Common Ads Mistakes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Shape 5"/>
          <p:cNvSpPr/>
          <p:nvPr/>
        </p:nvSpPr>
        <p:spPr>
          <a:xfrm>
            <a:off x="457200" y="822960"/>
            <a:ext cx="36576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8" name="Text 6"/>
          <p:cNvSpPr/>
          <p:nvPr/>
        </p:nvSpPr>
        <p:spPr>
          <a:xfrm>
            <a:off x="457200" y="82296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60120" y="82296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quá thấp → ads không show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1" name="Shape 9"/>
          <p:cNvSpPr/>
          <p:nvPr/>
        </p:nvSpPr>
        <p:spPr>
          <a:xfrm>
            <a:off x="457200" y="1371600"/>
            <a:ext cx="36576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2" name="Text 10"/>
          <p:cNvSpPr/>
          <p:nvPr/>
        </p:nvSpPr>
        <p:spPr>
          <a:xfrm>
            <a:off x="457200" y="137160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60120" y="137160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quá cao → ACOS 80%+ → chảy máu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1920240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5" name="Shape 13"/>
          <p:cNvSpPr/>
          <p:nvPr/>
        </p:nvSpPr>
        <p:spPr>
          <a:xfrm>
            <a:off x="457200" y="1920240"/>
            <a:ext cx="36576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6" name="Text 14"/>
          <p:cNvSpPr/>
          <p:nvPr/>
        </p:nvSpPr>
        <p:spPr>
          <a:xfrm>
            <a:off x="457200" y="192024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60120" y="19202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add negative keywords → wasted spend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Shape 17"/>
          <p:cNvSpPr/>
          <p:nvPr/>
        </p:nvSpPr>
        <p:spPr>
          <a:xfrm>
            <a:off x="457200" y="2468880"/>
            <a:ext cx="36576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0" name="Text 18"/>
          <p:cNvSpPr/>
          <p:nvPr/>
        </p:nvSpPr>
        <p:spPr>
          <a:xfrm>
            <a:off x="457200" y="246888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60120" y="246888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quá nhanh (chưa đủ 14 ngày data)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017520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3" name="Shape 21"/>
          <p:cNvSpPr/>
          <p:nvPr/>
        </p:nvSpPr>
        <p:spPr>
          <a:xfrm>
            <a:off x="457200" y="3017520"/>
            <a:ext cx="36576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4" name="Text 22"/>
          <p:cNvSpPr/>
          <p:nvPr/>
        </p:nvSpPr>
        <p:spPr>
          <a:xfrm>
            <a:off x="457200" y="30175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60120" y="301752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track theo cohort (mới vs cũ)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7" name="Shape 25"/>
          <p:cNvSpPr/>
          <p:nvPr/>
        </p:nvSpPr>
        <p:spPr>
          <a:xfrm>
            <a:off x="457200" y="3566160"/>
            <a:ext cx="36576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8" name="Text 26"/>
          <p:cNvSpPr/>
          <p:nvPr/>
        </p:nvSpPr>
        <p:spPr>
          <a:xfrm>
            <a:off x="457200" y="356616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60120" y="356616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 hàng ngày → noise &gt; signal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31" name="Shape 29"/>
          <p:cNvSpPr/>
          <p:nvPr/>
        </p:nvSpPr>
        <p:spPr>
          <a:xfrm>
            <a:off x="457200" y="4114800"/>
            <a:ext cx="365760" cy="4572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32" name="Text 30"/>
          <p:cNvSpPr/>
          <p:nvPr/>
        </p:nvSpPr>
        <p:spPr>
          <a:xfrm>
            <a:off x="457200" y="411480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60120" y="411480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 Auto sau 30 ngày (vẫn cần discover keyword mới)</a:t>
            </a:r>
            <a:endParaRPr lang="en-US" sz="11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Ads Tools Stack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131" name="Table 0"/>
          <p:cNvGraphicFramePr>
            <a:graphicFrameLocks noGrp="1"/>
          </p:cNvGraphicFramePr>
          <p:nvPr/>
        </p:nvGraphicFramePr>
        <p:xfrm>
          <a:off x="457200" y="868680"/>
          <a:ext cx="8229600" cy="2286000"/>
        </p:xfrm>
        <a:graphic>
          <a:graphicData uri="http://schemas.openxmlformats.org/drawingml/2006/table">
            <a:tbl>
              <a:tblPr/>
              <a:tblGrid>
                <a:gridCol w="3200400"/>
                <a:gridCol w="1828800"/>
                <a:gridCol w="320040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Giá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Ghi chú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KDP Ads dashboard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Đủ cho newbie ⭐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Helium 10 ADS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$79/m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Advanced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AdBadger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$79/m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Automation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KDPBot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Paid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AI-driven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2004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Newbie: dùng KDP Ads dashboard 3 tháng đầu, đủ</a:t>
            </a:r>
            <a:endParaRPr lang="en-US" sz="13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Khi nào KILL Campaign?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457200" y="7772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nếu sau 30 ngày + $50 spend: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28016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8" name="Shape 6"/>
          <p:cNvSpPr/>
          <p:nvPr/>
        </p:nvSpPr>
        <p:spPr>
          <a:xfrm>
            <a:off x="457200" y="128016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9" name="Text 7"/>
          <p:cNvSpPr/>
          <p:nvPr/>
        </p:nvSpPr>
        <p:spPr>
          <a:xfrm>
            <a:off x="731520" y="128016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ACOS &gt; 80% → KILL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92024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1" name="Shape 9"/>
          <p:cNvSpPr/>
          <p:nvPr/>
        </p:nvSpPr>
        <p:spPr>
          <a:xfrm>
            <a:off x="457200" y="192024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2" name="Text 10"/>
          <p:cNvSpPr/>
          <p:nvPr/>
        </p:nvSpPr>
        <p:spPr>
          <a:xfrm>
            <a:off x="731520" y="192024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sales → KILL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4" name="Shape 12"/>
          <p:cNvSpPr/>
          <p:nvPr/>
        </p:nvSpPr>
        <p:spPr>
          <a:xfrm>
            <a:off x="457200" y="256032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5" name="Text 13"/>
          <p:cNvSpPr/>
          <p:nvPr/>
        </p:nvSpPr>
        <p:spPr>
          <a:xfrm>
            <a:off x="731520" y="256032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không cải thiện sau $30+ spend → KILL book strategy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= pause + remove underperformers, KHÔNG delete campaign</a:t>
            </a:r>
            <a:endParaRPr lang="en-US" sz="12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Demo: 3 Campaign Live Setup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7" name="Text 5"/>
          <p:cNvSpPr/>
          <p:nvPr/>
        </p:nvSpPr>
        <p:spPr>
          <a:xfrm>
            <a:off x="457200" y="77724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1920240" cy="914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7200" y="141732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$3.34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187452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Royalty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560320" y="1371600"/>
            <a:ext cx="1920240" cy="914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2560320" y="141732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41%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2560320" y="187452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Break-even ACOS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371600"/>
            <a:ext cx="1920240" cy="914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663440" y="141732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30%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663440" y="187452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ACOS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66560" y="1371600"/>
            <a:ext cx="1920240" cy="914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766560" y="1417320"/>
            <a:ext cx="1920240" cy="502920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$0.50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6766560" y="1874520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bid</a:t>
            </a:r>
            <a:endParaRPr lang="en-US" sz="10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Live: Campaign 1 — Auto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Text 5"/>
          <p:cNvSpPr/>
          <p:nvPr/>
        </p:nvSpPr>
        <p:spPr>
          <a:xfrm>
            <a:off x="640080" y="91440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17520" y="91440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LP_Sudoku_Seniors_AUTO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0" name="Text 8"/>
          <p:cNvSpPr/>
          <p:nvPr/>
        </p:nvSpPr>
        <p:spPr>
          <a:xfrm>
            <a:off x="640080" y="150876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17520" y="150876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$5/ngày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3" name="Text 11"/>
          <p:cNvSpPr/>
          <p:nvPr/>
        </p:nvSpPr>
        <p:spPr>
          <a:xfrm>
            <a:off x="640080" y="210312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17520" y="210312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$0.50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6" name="Text 14"/>
          <p:cNvSpPr/>
          <p:nvPr/>
        </p:nvSpPr>
        <p:spPr>
          <a:xfrm>
            <a:off x="640080" y="26974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17520" y="269748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29184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Text 17"/>
          <p:cNvSpPr/>
          <p:nvPr/>
        </p:nvSpPr>
        <p:spPr>
          <a:xfrm>
            <a:off x="640080" y="329184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017520" y="329184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- down only</a:t>
            </a:r>
            <a:endParaRPr lang="en-US" sz="13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Live: Campaign 2 — Manual Exact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Text 5"/>
          <p:cNvSpPr/>
          <p:nvPr/>
        </p:nvSpPr>
        <p:spPr>
          <a:xfrm>
            <a:off x="640080" y="91440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17520" y="91440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LP_Sudoku_Seniors_EXACT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0" name="Text 8"/>
          <p:cNvSpPr/>
          <p:nvPr/>
        </p:nvSpPr>
        <p:spPr>
          <a:xfrm>
            <a:off x="640080" y="150876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17520" y="150876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$10/ngày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3" name="Text 11"/>
          <p:cNvSpPr/>
          <p:nvPr/>
        </p:nvSpPr>
        <p:spPr>
          <a:xfrm>
            <a:off x="640080" y="210312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17520" y="210312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$0.55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6" name="Text 14"/>
          <p:cNvSpPr/>
          <p:nvPr/>
        </p:nvSpPr>
        <p:spPr>
          <a:xfrm>
            <a:off x="640080" y="26974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17520" y="269748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exact keywords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29184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Text 17"/>
          <p:cNvSpPr/>
          <p:nvPr/>
        </p:nvSpPr>
        <p:spPr>
          <a:xfrm>
            <a:off x="640080" y="329184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017520" y="329184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- down only</a:t>
            </a:r>
            <a:endParaRPr lang="en-US" sz="13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Live: Campaign 3 — Manual Broad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Text 5"/>
          <p:cNvSpPr/>
          <p:nvPr/>
        </p:nvSpPr>
        <p:spPr>
          <a:xfrm>
            <a:off x="640080" y="91440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17520" y="91440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LP_Sudoku_Seniors_BROAD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50876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0" name="Text 8"/>
          <p:cNvSpPr/>
          <p:nvPr/>
        </p:nvSpPr>
        <p:spPr>
          <a:xfrm>
            <a:off x="640080" y="150876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17520" y="150876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$5/ngày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1031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3" name="Text 11"/>
          <p:cNvSpPr/>
          <p:nvPr/>
        </p:nvSpPr>
        <p:spPr>
          <a:xfrm>
            <a:off x="640080" y="210312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017520" y="210312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$0.40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697480"/>
            <a:ext cx="8229600" cy="502920"/>
          </a:xfrm>
          <a:prstGeom prst="rect">
            <a:avLst/>
          </a:prstGeom>
          <a:solidFill>
            <a:srgbClr val="1C2940"/>
          </a:solidFill>
        </p:spPr>
      </p:sp>
      <p:sp>
        <p:nvSpPr>
          <p:cNvPr id="16" name="Text 14"/>
          <p:cNvSpPr/>
          <p:nvPr/>
        </p:nvSpPr>
        <p:spPr>
          <a:xfrm>
            <a:off x="640080" y="26974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17520" y="269748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broad keywords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329184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Text 17"/>
          <p:cNvSpPr/>
          <p:nvPr/>
        </p:nvSpPr>
        <p:spPr>
          <a:xfrm>
            <a:off x="640080" y="329184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017520" y="3291840"/>
            <a:ext cx="54864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- down only</a:t>
            </a:r>
            <a:endParaRPr lang="en-US" sz="13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Total Ads Setup Recap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Campaigns active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56032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6032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$20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56032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344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$600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466344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cap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66560" y="914400"/>
            <a:ext cx="1920240" cy="10972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66560" y="960120"/>
            <a:ext cx="1920240" cy="603504"/>
          </a:xfrm>
          <a:prstGeom prst="rect">
            <a:avLst/>
          </a:prstGeom>
          <a:noFill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7 ngày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766560" y="1517904"/>
            <a:ext cx="1920240" cy="438912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check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256032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sales (30% ACOS): ~$2,000/month royalty target</a:t>
            </a:r>
            <a:endParaRPr lang="en-US" sz="16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KPIs cần track hàng tuần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138" name="Table 0"/>
          <p:cNvGraphicFramePr>
            <a:graphicFrameLocks noGrp="1"/>
          </p:cNvGraphicFramePr>
          <p:nvPr/>
        </p:nvGraphicFramePr>
        <p:xfrm>
          <a:off x="457200" y="868680"/>
          <a:ext cx="8229600" cy="2743200"/>
        </p:xfrm>
        <a:graphic>
          <a:graphicData uri="http://schemas.openxmlformats.org/drawingml/2006/table">
            <a:tbl>
              <a:tblPr/>
              <a:tblGrid>
                <a:gridCol w="2286000"/>
                <a:gridCol w="1828800"/>
                <a:gridCol w="2286000"/>
                <a:gridCol w="182880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Tốt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Trung bình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Xấu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BSR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&lt;100,000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100K-500K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&gt;500K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&lt;30%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30-50%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&gt;50%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Daily Sales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Reviews/tuần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5+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CTR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&gt;0.5%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0.2-0.5%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&lt;0.2%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Book Classification (4 Buckets)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6868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68680"/>
            <a:ext cx="54864" cy="73152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" name="Text 6"/>
          <p:cNvSpPr/>
          <p:nvPr/>
        </p:nvSpPr>
        <p:spPr>
          <a:xfrm>
            <a:off x="731520" y="86868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Winner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0" y="86868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&lt;100K, ACOS &lt;30%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126480" y="8686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→ SCALE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1737360"/>
            <a:ext cx="54864" cy="73152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13" name="Text 11"/>
          <p:cNvSpPr/>
          <p:nvPr/>
        </p:nvSpPr>
        <p:spPr>
          <a:xfrm>
            <a:off x="731520" y="173736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Promising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743200" y="173736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100K-300K, ACOS 30-50%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1737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→ IMPROVE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60604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2606040"/>
            <a:ext cx="54864" cy="731520"/>
          </a:xfrm>
          <a:prstGeom prst="rect">
            <a:avLst/>
          </a:prstGeom>
          <a:solidFill>
            <a:srgbClr val="F59E0B"/>
          </a:solidFill>
        </p:spPr>
      </p:sp>
      <p:sp>
        <p:nvSpPr>
          <p:cNvPr id="18" name="Text 16"/>
          <p:cNvSpPr/>
          <p:nvPr/>
        </p:nvSpPr>
        <p:spPr>
          <a:xfrm>
            <a:off x="731520" y="260604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😴 Stuck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0" y="260604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300K-1M, ACOS 50-80%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126480" y="260604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9E0B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→ ITERATE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474720"/>
            <a:ext cx="8229600" cy="73152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474720"/>
            <a:ext cx="54864" cy="7315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3" name="Text 21"/>
          <p:cNvSpPr/>
          <p:nvPr/>
        </p:nvSpPr>
        <p:spPr>
          <a:xfrm>
            <a:off x="731520" y="3474720"/>
            <a:ext cx="18288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💀 Dead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743200" y="3474720"/>
            <a:ext cx="32004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&gt;1M, ACOS &gt;80%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26480" y="347472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F4444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→ KILL ads</a:t>
            </a:r>
            <a:endParaRPr lang="en-US" sz="1300" dirty="0"/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Iteration Playbook (Stuck Book)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refresh (A/B test) → 30% case fix bằng cover mới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tweak (thêm keyword)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 rewrite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test ($6.99 vs $9.99)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Re-categorize (request KDP move category)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30 ngày sau iteration → reassess</a:t>
            </a:r>
            <a:endParaRPr lang="en-US" sz="1300" dirty="0"/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Tracking Sheet Template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141" name="Table 0"/>
          <p:cNvGraphicFramePr>
            <a:graphicFrameLocks noGrp="1"/>
          </p:cNvGraphicFramePr>
          <p:nvPr/>
        </p:nvGraphicFramePr>
        <p:xfrm>
          <a:off x="274320" y="868680"/>
          <a:ext cx="8595360" cy="1371600"/>
        </p:xfrm>
        <a:graphic>
          <a:graphicData uri="http://schemas.openxmlformats.org/drawingml/2006/table">
            <a:tbl>
              <a:tblPr/>
              <a:tblGrid>
                <a:gridCol w="914400"/>
                <a:gridCol w="822960"/>
                <a:gridCol w="731520"/>
                <a:gridCol w="822960"/>
                <a:gridCol w="731520"/>
                <a:gridCol w="822960"/>
                <a:gridCol w="731520"/>
                <a:gridCol w="914400"/>
                <a:gridCol w="118872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Launch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BSR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Reviews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Spend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ACOS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B0XXX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28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Winner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Scale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B0YYY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 15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$60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55%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Stuck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 A/B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292608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Google Sheet sẽ được share trong group</a:t>
            </a:r>
            <a:endParaRPr lang="en-US" sz="1200" dirty="0"/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Weekly Review Routine (Chủ Nhật, 30 phút)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32004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Check BSR all books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Update tracking sheet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Download Search Term Reports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Apply 1 optimization per book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Identify Winner → scale budget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Identify Dead → kill ads</a:t>
            </a:r>
            <a:endParaRPr lang="en-US" sz="1300" dirty="0"/>
          </a:p>
          <a:p>
            <a:pPr marL="0" indent="0">
              <a:spcAft>
                <a:spcPts val="400"/>
              </a:spcAft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☐ Plan 1-2 new books cho tuần tới</a:t>
            </a:r>
            <a:endParaRPr lang="en-US" sz="1300" dirty="0"/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Repo aws-kdp — Automation Tools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164592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149961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scripts/db.py royalties list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scripts/db.py ad_performance list --since 2026-04-01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Agent 07: performance-analyst (auto classify)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/daily-brief — morning anomaly report (5AM Club!)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/weekly-cycle — Sunday performance review</a:t>
            </a:r>
            <a:endParaRPr lang="en-US" sz="900" dirty="0"/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Khi nào Quit một Book?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ngày live + spend $50+ → vẫn không review nào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BSR &gt; 2,000,000 sau khi iterate 2 lần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royalty &lt; spend × 0.5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 = deprioritize, ĐỪNG unpublish (negative signal Amazon)</a:t>
            </a:r>
            <a:endParaRPr lang="en-US" sz="1400" dirty="0"/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Winner Scale-up Playbook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Text 4"/>
          <p:cNvSpPr/>
          <p:nvPr/>
        </p:nvSpPr>
        <p:spPr>
          <a:xfrm>
            <a:off x="640080" y="1005840"/>
            <a:ext cx="7863840" cy="274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Tăng Ads budget 50% mỗi tuần (max +200% tổng)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Tăng giá $1 → test elasticity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Tạo 2-3 sách "spin-off" cùng niche (series)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Central feature this book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Re-categorize lên category mạnh hơn</a:t>
            </a:r>
            <a:endParaRPr lang="en-US" sz="1400" dirty="0"/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Scale Roadmap Overview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260604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14400"/>
            <a:ext cx="2606040" cy="4572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457200" y="9144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TIER 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146304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192024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3B82F6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$50-200/m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3063240" y="1554480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337560" y="914400"/>
            <a:ext cx="260604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37560" y="914400"/>
            <a:ext cx="2606040" cy="4572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4" name="Text 12"/>
          <p:cNvSpPr/>
          <p:nvPr/>
        </p:nvSpPr>
        <p:spPr>
          <a:xfrm>
            <a:off x="3337560" y="9144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TIER 2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337560" y="146304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37560" y="192024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$300-1K/m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943600" y="1554480"/>
            <a:ext cx="27432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94A3B8"/>
                </a:solidFill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6217920" y="914400"/>
            <a:ext cx="2606040" cy="18288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17920" y="914400"/>
            <a:ext cx="2606040" cy="4572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20" name="Text 18"/>
          <p:cNvSpPr/>
          <p:nvPr/>
        </p:nvSpPr>
        <p:spPr>
          <a:xfrm>
            <a:off x="6217920" y="91440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0B1120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TIER 3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217920" y="146304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17920" y="1920240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22C55E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$2K+/m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57200" y="320040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21 ngày: đạt Tier 1 với 100 sách → $100-500/tháng, nền tảng scale tiếp</a:t>
            </a:r>
            <a:endParaRPr lang="en-US" sz="1300" dirty="0"/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TIER 1: BOOTSTRAP ($50-200/m)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411480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926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&amp; Output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794760" cy="2468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Solo, side hustle, 5-10h/tuần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5-10 sách/tháng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Free AI + Canva Free + KDP Ads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tools: $0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822960"/>
            <a:ext cx="384048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822960"/>
            <a:ext cx="54864" cy="292608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2" name="Text 10"/>
          <p:cNvSpPr/>
          <p:nvPr/>
        </p:nvSpPr>
        <p:spPr>
          <a:xfrm>
            <a:off x="502920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&amp; Goal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207008"/>
            <a:ext cx="3520440" cy="2468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Ads: $5-10/ngày × 3 sách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$450-900/tháng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6 tháng: $500-1500/m passive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Limit: time-bound (1 người)</a:t>
            </a:r>
            <a:endParaRPr lang="en-US" sz="1100" dirty="0"/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TIER 2: STANDARD ($300-1000/m)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411480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92608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&amp; Output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794760" cy="2468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 publisher, 15-25h/tuần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10-30 sách/tháng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 Rocket + KDSPY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Canva Pro + Midjourney + Helium 10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822960"/>
            <a:ext cx="3840480" cy="2926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822960"/>
            <a:ext cx="54864" cy="292608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2" name="Text 10"/>
          <p:cNvSpPr/>
          <p:nvPr/>
        </p:nvSpPr>
        <p:spPr>
          <a:xfrm>
            <a:off x="502920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&amp; Goal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207008"/>
            <a:ext cx="3520440" cy="246888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Ads: $20-30/ngày × 5 books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 $80-150/m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12 tháng: $5K-15K/m passive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Bottleneck: production speed</a:t>
            </a:r>
            <a:endParaRPr lang="en-US" sz="1100" dirty="0"/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TIER 3: PRO ($2000+/m)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4114800" cy="3200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32004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&amp; Output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794760" cy="274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Full-time KDP business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50-100+ sách/tháng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Adobe InDesign + Custom AI pipeline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team (2-5 người)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Multi-pen-name strategy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822960"/>
            <a:ext cx="3840480" cy="32004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822960"/>
            <a:ext cx="54864" cy="32004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2" name="Text 10"/>
          <p:cNvSpPr/>
          <p:nvPr/>
        </p:nvSpPr>
        <p:spPr>
          <a:xfrm>
            <a:off x="502920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&amp; Goal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207008"/>
            <a:ext cx="3520440" cy="27432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Ads: $100-300/ngày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+ VA: $1500-3500/m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 24 tháng: $30K-100K+/m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account ban, cần CPA</a:t>
            </a:r>
            <a:endParaRPr lang="en-US" sz="1100" dirty="0"/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Pen Name Strategy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2860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KDP account = nhiều pen names UNLIMITED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79095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niche → 1 pen name riêng (branding clarity)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VD: BoBo Brain (sudoku), CozyCat Studio (coloring), MindfulMom (journals)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KDP → Account → Add Author Profile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= multi-account (vẫn 1 KDP, 1 tax)</a:t>
            </a:r>
            <a:endParaRPr lang="en-US" sz="1100" dirty="0"/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Series Strategy (Force Multiplier)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Text 4"/>
          <p:cNvSpPr/>
          <p:nvPr/>
        </p:nvSpPr>
        <p:spPr>
          <a:xfrm>
            <a:off x="640080" y="914400"/>
            <a:ext cx="78638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Winner → spin-off 5-10 sách cùng niche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VD: "Sudoku for Seniors Vol 1" → Vol 2, 3 → Christmas → Travel edition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sách cross-sell tự nhiên qua Amazon recommend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winner niche = $2,000-5,000/tháng (cộng dồn 10 sách)</a:t>
            </a:r>
            <a:endParaRPr lang="en-US" sz="1400" dirty="0"/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VA Hiring Playbook (Tier 3)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4114800" cy="27432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74320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cho VA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79476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generation (theo prompt template)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design (theo template)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draft (theo SEO checklist)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 upload + Daily Ads check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46320" y="822960"/>
            <a:ext cx="3840480" cy="27432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846320" y="822960"/>
            <a:ext cx="54864" cy="27432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2" name="Text 10"/>
          <p:cNvSpPr/>
          <p:nvPr/>
        </p:nvSpPr>
        <p:spPr>
          <a:xfrm>
            <a:off x="502920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0" y="1207008"/>
            <a:ext cx="35204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OnlineJobs.ph ($300-600/m PH VA)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Upwork ($5-15/h)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bằng SOP video (Loom)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KPI: 5-10 sách/tuần/VA</a:t>
            </a:r>
            <a:endParaRPr lang="en-US" sz="1100" dirty="0"/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Multi-account WARNING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22860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228600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9" name="Text 6"/>
          <p:cNvSpPr/>
          <p:nvPr/>
        </p:nvSpPr>
        <p:spPr>
          <a:xfrm>
            <a:off x="640080" y="987552"/>
            <a:ext cx="79552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 cấm multi-account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1298448"/>
            <a:ext cx="7909560" cy="18288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người = 1 account (theo person + tax + payment)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 name UNLIMITED trong 1 account → dùng thay multi-account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"Family member account" = grey zone, RISKY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phạm = ban toàn bộ + freeze royalty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3: cứ scale trong 1 account</a:t>
            </a:r>
            <a:endParaRPr lang="en-US" sz="1100" dirty="0"/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01168"/>
            <a:ext cx="365760" cy="3657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68680" y="182880"/>
            <a:ext cx="78181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Sau khóa học, làm gì?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153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Shape 4"/>
          <p:cNvSpPr/>
          <p:nvPr/>
        </p:nvSpPr>
        <p:spPr>
          <a:xfrm>
            <a:off x="457200" y="914400"/>
            <a:ext cx="8229600" cy="71323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8" name="Shape 5"/>
          <p:cNvSpPr/>
          <p:nvPr/>
        </p:nvSpPr>
        <p:spPr>
          <a:xfrm>
            <a:off x="457200" y="914400"/>
            <a:ext cx="54864" cy="713232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9" name="Text 6"/>
          <p:cNvSpPr/>
          <p:nvPr/>
        </p:nvSpPr>
        <p:spPr>
          <a:xfrm>
            <a:off x="731520" y="914400"/>
            <a:ext cx="164592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Ngày 1-3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2560320" y="914400"/>
            <a:ext cx="594360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Khóa học 3 ngày + sách đầu tiên LIVE trên KDP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57200" y="1755648"/>
            <a:ext cx="8229600" cy="71323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2" name="Shape 9"/>
          <p:cNvSpPr/>
          <p:nvPr/>
        </p:nvSpPr>
        <p:spPr>
          <a:xfrm>
            <a:off x="457200" y="1755648"/>
            <a:ext cx="54864" cy="713232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3" name="Text 10"/>
          <p:cNvSpPr/>
          <p:nvPr/>
        </p:nvSpPr>
        <p:spPr>
          <a:xfrm>
            <a:off x="731520" y="1755648"/>
            <a:ext cx="164592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Ngày 4-7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560320" y="1755648"/>
            <a:ext cx="594360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10 sách với Agent System + launch ads cho sách 1-3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7200" y="2596896"/>
            <a:ext cx="8229600" cy="71323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6" name="Shape 13"/>
          <p:cNvSpPr/>
          <p:nvPr/>
        </p:nvSpPr>
        <p:spPr>
          <a:xfrm>
            <a:off x="457200" y="2596896"/>
            <a:ext cx="54864" cy="713232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7" name="Text 14"/>
          <p:cNvSpPr/>
          <p:nvPr/>
        </p:nvSpPr>
        <p:spPr>
          <a:xfrm>
            <a:off x="731520" y="2596896"/>
            <a:ext cx="164592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Ngày 8-14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2560320" y="2596896"/>
            <a:ext cx="594360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sách total + optimize ads + tìm Winner đầu tiên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3438144"/>
            <a:ext cx="8229600" cy="713232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0" name="Shape 17"/>
          <p:cNvSpPr/>
          <p:nvPr/>
        </p:nvSpPr>
        <p:spPr>
          <a:xfrm>
            <a:off x="457200" y="3438144"/>
            <a:ext cx="54864" cy="713232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21" name="Text 18"/>
          <p:cNvSpPr/>
          <p:nvPr/>
        </p:nvSpPr>
        <p:spPr>
          <a:xfrm>
            <a:off x="731520" y="3438144"/>
            <a:ext cx="164592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Ngày 15-21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2560320" y="3438144"/>
            <a:ext cx="5943600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sách + series strategy + target $100-500/tháng</a:t>
            </a:r>
            <a:endParaRPr lang="en-US" sz="1100" dirty="0"/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21-Day Milestones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graphicFrame>
        <p:nvGraphicFramePr>
          <p:cNvPr id="155" name="Table 0"/>
          <p:cNvGraphicFramePr>
            <a:graphicFrameLocks noGrp="1"/>
          </p:cNvGraphicFramePr>
          <p:nvPr/>
        </p:nvGraphicFramePr>
        <p:xfrm>
          <a:off x="457200" y="868680"/>
          <a:ext cx="8229600" cy="2514600"/>
        </p:xfrm>
        <a:graphic>
          <a:graphicData uri="http://schemas.openxmlformats.org/drawingml/2006/table">
            <a:tbl>
              <a:tblPr/>
              <a:tblGrid>
                <a:gridCol w="1828800"/>
                <a:gridCol w="3657600"/>
                <a:gridCol w="2743200"/>
              </a:tblGrid>
              <a:tr h="50292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Ngày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Sách total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target</a:t>
                      </a:r>
                      <a:endParaRPr lang="en-US" sz="11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1-2 (thủ công)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 — learning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10-15 (Agent batch)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 — ads warming up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40-60 (Agent + batch)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$20-50/tháng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1D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100+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$100-500/tháng</a:t>
                      </a:r>
                      <a:endParaRPr lang="en-US" sz="1000" dirty="0">
                        <a:latin typeface="Calibri" pitchFamily="34" charset="0"/>
                        <a:ea typeface="Calibri" pitchFamily="34" charset="0"/>
                        <a:cs typeface="Calibri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D3F5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82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sách trong 21 ngày = nền tảng passive income vững chắc</a:t>
            </a:r>
            <a:endParaRPr lang="en-US" sz="1600" dirty="0"/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Common Pitfalls Tránh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8" name="Text 6"/>
          <p:cNvSpPr/>
          <p:nvPr/>
        </p:nvSpPr>
        <p:spPr>
          <a:xfrm>
            <a:off x="731520" y="82296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Perfectionism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200400" y="822960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Chờ sách "hoàn hảo" → 0 sách trong 21 ngày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41732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1" name="Shape 9"/>
          <p:cNvSpPr/>
          <p:nvPr/>
        </p:nvSpPr>
        <p:spPr>
          <a:xfrm>
            <a:off x="457200" y="141732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2" name="Text 10"/>
          <p:cNvSpPr/>
          <p:nvPr/>
        </p:nvSpPr>
        <p:spPr>
          <a:xfrm>
            <a:off x="731520" y="141732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jumping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200400" y="1417320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niche mỗi tuần → không có series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01168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5" name="Shape 13"/>
          <p:cNvSpPr/>
          <p:nvPr/>
        </p:nvSpPr>
        <p:spPr>
          <a:xfrm>
            <a:off x="457200" y="201168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16" name="Text 14"/>
          <p:cNvSpPr/>
          <p:nvPr/>
        </p:nvSpPr>
        <p:spPr>
          <a:xfrm>
            <a:off x="731520" y="201168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bỏ bê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200400" y="2011680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ngày không optimize → BSR rớt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60604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19" name="Shape 17"/>
          <p:cNvSpPr/>
          <p:nvPr/>
        </p:nvSpPr>
        <p:spPr>
          <a:xfrm>
            <a:off x="457200" y="260604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0" name="Text 18"/>
          <p:cNvSpPr/>
          <p:nvPr/>
        </p:nvSpPr>
        <p:spPr>
          <a:xfrm>
            <a:off x="731520" y="260604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homework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200400" y="2606040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khóa nhưng không apply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57200" y="320040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3" name="Shape 21"/>
          <p:cNvSpPr/>
          <p:nvPr/>
        </p:nvSpPr>
        <p:spPr>
          <a:xfrm>
            <a:off x="457200" y="320040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4" name="Text 22"/>
          <p:cNvSpPr/>
          <p:nvPr/>
        </p:nvSpPr>
        <p:spPr>
          <a:xfrm>
            <a:off x="731520" y="320040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Ngại đầu tư tool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200400" y="3200400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Publisher Rocket $199 ROI trong 1 sách Winner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3794760"/>
            <a:ext cx="8229600" cy="502920"/>
          </a:xfrm>
          <a:prstGeom prst="rect">
            <a:avLst/>
          </a:prstGeom>
          <a:solidFill>
            <a:srgbClr val="151F32"/>
          </a:solidFill>
        </p:spPr>
      </p:sp>
      <p:sp>
        <p:nvSpPr>
          <p:cNvPr id="27" name="Shape 25"/>
          <p:cNvSpPr/>
          <p:nvPr/>
        </p:nvSpPr>
        <p:spPr>
          <a:xfrm>
            <a:off x="457200" y="3794760"/>
            <a:ext cx="54864" cy="502920"/>
          </a:xfrm>
          <a:prstGeom prst="rect">
            <a:avLst/>
          </a:prstGeom>
          <a:solidFill>
            <a:srgbClr val="EF4444"/>
          </a:solidFill>
        </p:spPr>
      </p:sp>
      <p:sp>
        <p:nvSpPr>
          <p:cNvPr id="28" name="Text 26"/>
          <p:cNvSpPr/>
          <p:nvPr/>
        </p:nvSpPr>
        <p:spPr>
          <a:xfrm>
            <a:off x="731520" y="3794760"/>
            <a:ext cx="22860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người khác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3200400" y="3794760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YOUR pipeline</a:t>
            </a:r>
            <a:endParaRPr lang="en-US" sz="1100" dirty="0"/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Resources &amp; Communities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3840480" cy="27432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822960"/>
            <a:ext cx="54864" cy="274320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8" name="Text 6"/>
          <p:cNvSpPr/>
          <p:nvPr/>
        </p:nvSpPr>
        <p:spPr>
          <a:xfrm>
            <a:off x="640080" y="896112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Resources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207008"/>
            <a:ext cx="352044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KDP Help Center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/r/KDP subreddit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Self-Publishing School (YouTube)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Dale Roberts (YouTube — best free)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0" y="822960"/>
            <a:ext cx="4114800" cy="274320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822960"/>
            <a:ext cx="54864" cy="274320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2" name="Text 10"/>
          <p:cNvSpPr/>
          <p:nvPr/>
        </p:nvSpPr>
        <p:spPr>
          <a:xfrm>
            <a:off x="4754880" y="896112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Vietnamese Community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54880" y="1207008"/>
            <a:ext cx="3794760" cy="228600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Telegram khóa học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1-on-1 coaching cohort 2026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hours: Chủ Nhật 5AM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slide hàng quý</a:t>
            </a:r>
            <a:endParaRPr lang="en-US" sz="1100" dirty="0"/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Repo aws-kdp — Your Toolkit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822960"/>
            <a:ext cx="8229600" cy="2286000"/>
          </a:xfrm>
          <a:prstGeom prst="rect">
            <a:avLst/>
          </a:prstGeom>
          <a:solidFill>
            <a:srgbClr val="0D1117"/>
          </a:solidFill>
        </p:spPr>
      </p:sp>
      <p:sp>
        <p:nvSpPr>
          <p:cNvPr id="7" name="Text 5"/>
          <p:cNvSpPr/>
          <p:nvPr/>
        </p:nvSpPr>
        <p:spPr>
          <a:xfrm>
            <a:off x="594360" y="896112"/>
            <a:ext cx="7955280" cy="2139696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scripts/plan_book.py     — auto plan với Claude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scripts/generate_images.py — multi-renderer pipeline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scripts/build_pdf.py     — KDP-compliant interior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scripts/generate_cover.py — full wrap cover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scripts/pdf_qc.py        — pre-flight validator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/kdp-create-book  — agent orchestrator end-to-end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/daily-brief      — morning report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6ED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/weekly-cycle     — Sunday optimization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viên access free, fork về máy, customize</a:t>
            </a:r>
            <a:endParaRPr lang="en-US" sz="1300" dirty="0"/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Hỗ trợ sau khóa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5116068"/>
            <a:ext cx="91440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6" name="Shape 4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14400"/>
            <a:ext cx="54864" cy="640080"/>
          </a:xfrm>
          <a:prstGeom prst="rect">
            <a:avLst/>
          </a:prstGeom>
          <a:solidFill>
            <a:srgbClr val="3B82F6"/>
          </a:solidFill>
        </p:spPr>
      </p:sp>
      <p:sp>
        <p:nvSpPr>
          <p:cNvPr id="8" name="Text 6"/>
          <p:cNvSpPr/>
          <p:nvPr/>
        </p:nvSpPr>
        <p:spPr>
          <a:xfrm>
            <a:off x="731520" y="91440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Telegram/Zalo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0" y="914400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ngày sprint + hỗ trợ sau khóa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1691640"/>
            <a:ext cx="8229600" cy="640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1691640"/>
            <a:ext cx="54864" cy="64008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12" name="Text 10"/>
          <p:cNvSpPr/>
          <p:nvPr/>
        </p:nvSpPr>
        <p:spPr>
          <a:xfrm>
            <a:off x="731520" y="169164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hours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0" y="1691640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1h/tuần (Chủ Nhật 5AM) trong 21 ngày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8229600" cy="640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2468880"/>
            <a:ext cx="54864" cy="640080"/>
          </a:xfrm>
          <a:prstGeom prst="rect">
            <a:avLst/>
          </a:prstGeom>
          <a:solidFill>
            <a:srgbClr val="22C55E"/>
          </a:solidFill>
        </p:spPr>
      </p:sp>
      <p:sp>
        <p:nvSpPr>
          <p:cNvPr id="16" name="Text 14"/>
          <p:cNvSpPr/>
          <p:nvPr/>
        </p:nvSpPr>
        <p:spPr>
          <a:xfrm>
            <a:off x="731520" y="246888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1-on-1 review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57600" y="2468880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lần/học viên trong 21 ngày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151F32"/>
          </a:solidFill>
          <a:effectLst>
            <a:outerShdw blurRad="762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F5A623"/>
          </a:solidFill>
        </p:spPr>
      </p:sp>
      <p:sp>
        <p:nvSpPr>
          <p:cNvPr id="20" name="Text 18"/>
          <p:cNvSpPr/>
          <p:nvPr/>
        </p:nvSpPr>
        <p:spPr>
          <a:xfrm>
            <a:off x="731520" y="3246120"/>
            <a:ext cx="27432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slides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657600" y="3246120"/>
            <a:ext cx="484632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Hàng quý (KDP rules thay đổi)</a:t>
            </a:r>
            <a:endParaRPr lang="en-US" sz="1200" dirty="0"/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60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011680"/>
            <a:ext cx="7315200" cy="13716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"The best time to publish your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first book was a year ago.</a:t>
            </a:r>
            <a:endParaRPr lang="en-US" sz="2200" dirty="0"/>
          </a:p>
          <a:p>
            <a:pPr marL="0" indent="0" algn="ctr">
              <a:buNone/>
            </a:pPr>
            <a:r>
              <a:rPr lang="en-US" sz="2200" i="1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The second best time is TODAY."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Bắt đầu từ 5AM ngày mai.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8412480" y="182880"/>
            <a:ext cx="54864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151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5A623"/>
          </a:solidFill>
        </p:spPr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F5A623"/>
          </a:solidFill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0" y="73152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8229600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000" b="1" dirty="0">
                <a:solidFill>
                  <a:srgbClr val="F5A623"/>
                </a:solidFill>
                <a:latin typeface="Arial Black" panose="020B0A04020102020204" pitchFamily="34" charset="0"/>
                <a:ea typeface="Arial Black" panose="020B0A04020102020204" pitchFamily="34" charset="-122"/>
                <a:cs typeface="Arial Black" panose="020B0A04020102020204" pitchFamily="34" charset="-120"/>
              </a:rPr>
              <a:t>CẢM ƠN!</a:t>
            </a:r>
            <a:endParaRPr lang="en-US" sz="5000" dirty="0"/>
          </a:p>
        </p:txBody>
      </p:sp>
      <p:sp>
        <p:nvSpPr>
          <p:cNvPr id="5" name="Text 2"/>
          <p:cNvSpPr/>
          <p:nvPr/>
        </p:nvSpPr>
        <p:spPr>
          <a:xfrm>
            <a:off x="457200" y="2286000"/>
            <a:ext cx="822960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3 ngày cùng nhau — bây giờ là lúc ACTION!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3200400" y="2926080"/>
            <a:ext cx="2743200" cy="27432"/>
          </a:xfrm>
          <a:prstGeom prst="rect">
            <a:avLst/>
          </a:prstGeom>
          <a:solidFill>
            <a:srgbClr val="F5A623">
              <a:alpha val="50000"/>
            </a:srgbClr>
          </a:solidFill>
        </p:spPr>
      </p:sp>
      <p:sp>
        <p:nvSpPr>
          <p:cNvPr id="7" name="Text 4"/>
          <p:cNvSpPr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Group: Telegram KDP 5AM Club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cohort: Coming soon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#KDP5AMClub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4297680"/>
            <a:ext cx="8229600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Tony Trieu — KDP 5AM Club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F5A623"/>
          </a:solid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39367</Words>
  <Application>WPS Presentation</Application>
  <PresentationFormat>On-screen Show (16:9)</PresentationFormat>
  <Paragraphs>3498</Paragraphs>
  <Slides>160</Slides>
  <Notes>160</Notes>
  <HiddenSlides>0</HiddenSlides>
  <MMClips>0</MMClips>
  <ScaleCrop>false</ScaleCrop>
  <HeadingPairs>
    <vt:vector size="6" baseType="variant">
      <vt:variant>
        <vt:lpstr>已用的字体</vt:lpstr>
      </vt:variant>
      <vt:variant>
        <vt:i4>23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160</vt:i4>
      </vt:variant>
    </vt:vector>
  </HeadingPairs>
  <TitlesOfParts>
    <vt:vector size="184" baseType="lpstr">
      <vt:lpstr>Arial</vt:lpstr>
      <vt:lpstr>SimSun</vt:lpstr>
      <vt:lpstr>Wingdings</vt:lpstr>
      <vt:lpstr>Arial Black</vt:lpstr>
      <vt:lpstr>Arial Black</vt:lpstr>
      <vt:lpstr>Arial Black</vt:lpstr>
      <vt:lpstr>Georgia</vt:lpstr>
      <vt:lpstr>Georgia</vt:lpstr>
      <vt:lpstr>Georgia</vt:lpstr>
      <vt:lpstr>Calibri</vt:lpstr>
      <vt:lpstr>Helvetica Neue</vt:lpstr>
      <vt:lpstr>Calibri</vt:lpstr>
      <vt:lpstr>Calibri</vt:lpstr>
      <vt:lpstr>Consolas</vt:lpstr>
      <vt:lpstr>Consolas</vt:lpstr>
      <vt:lpstr>Consolas</vt:lpstr>
      <vt:lpstr>Microsoft YaHei</vt:lpstr>
      <vt:lpstr>汉仪旗黑</vt:lpstr>
      <vt:lpstr>Arial Unicode MS</vt:lpstr>
      <vt:lpstr>宋体-简</vt:lpstr>
      <vt:lpstr>Apple Color Emoji</vt:lpstr>
      <vt:lpstr>苹方-简</vt:lpstr>
      <vt:lpstr>MS PGothic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KDP 5AM CLUB — 3 Ngày Huấn Luyện Chuyên Sâu</dc:title>
  <dc:creator>Tony Trieu</dc:creator>
  <dc:subject>PptxGenJS Presentation</dc:subject>
  <cp:lastModifiedBy>tonytrieu</cp:lastModifiedBy>
  <cp:revision>4</cp:revision>
  <dcterms:created xsi:type="dcterms:W3CDTF">2026-04-30T23:39:20Z</dcterms:created>
  <dcterms:modified xsi:type="dcterms:W3CDTF">2026-04-30T23:39:20Z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235E4D6043D35DD62E21F26958E0ECD2_42</vt:lpwstr>
  </property>
  <property fmtid="{D5CDD505-2E9C-101B-9397-08002B2CF9AE}" pid="3" name="KSOProductBuildVer">
    <vt:lpwstr>1033-12.1.25867.25867</vt:lpwstr>
  </property>
</Properties>
</file>